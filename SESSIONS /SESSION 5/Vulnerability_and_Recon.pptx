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Title slide. Open per the script OPENING section. Set the beginner-friendly tone: no silly questions. Preview the four modules.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agenda. Note the 7-minute break after Module 2. Times are start markers.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IMPORTANT SLIDE. Say it with conviction. Dual-use skills; authorisation is the line. Mention IT Act 2000 sections 43 &amp; 66 and legal practice ranges.</a:t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 each term with the house analogy. Run the quick check questions. If asked, define zero-day (vendor doesn't know, no patch).</a:t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CVE = universal ID card for a flaw. MITRE + CISA. Use Log4Shell as the running example throughout the deck.</a:t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 the ID into three parts. Reinforce: the value is one unambiguous name shared globally.</a:t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CVE = the name; NVD = the details and the score. You'll often use nvd.nist.gov. Optional live demo if internet available.</a:t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CVSS ranks severity 0-10 so teams know what to patch first. FIRST maintains it. v3.1 and v4.0.</a:t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Memorise this table. Show the colour mapping. Log4Shell = 10.0.</a:t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don't compute by hand — there's a FIRST calculator. The inputs explain why a score is high. If asked: temporal/environmental, and EPSS vs CVSS.</a:t>
            </a:r>
            <a:endParaRPr/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house analogy. Reducing attack surface = closing unneeded doors. Ask the phone attack-surface question.</a:t>
            </a:r>
            <a:endParaRPr/>
          </a:p>
        </p:txBody>
      </p:sp>
      <p:sp>
        <p:nvSpPr>
          <p:cNvPr id="259" name="Google Shape;2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categories. Stress the human one is the most forgotten and is Module 4. Log4j is the software-surface example.</a:t>
            </a:r>
            <a:endParaRPr/>
          </a:p>
        </p:txBody>
      </p:sp>
      <p:sp>
        <p:nvSpPr>
          <p:cNvPr id="275" name="Google Shape;27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OWASP = free, open, vendor-neutral app-security resources. Lead-in to the Top 10.</a:t>
            </a:r>
            <a:endParaRPr/>
          </a:p>
        </p:txBody>
      </p:sp>
      <p:sp>
        <p:nvSpPr>
          <p:cNvPr id="304" name="Google Shape;30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Don't memorise all ten today. Takeaways: common web risks are documented; Injection + Broken Access Control are the heavy hitters; OWASP is your free reference. Note 2021 is current; a refresh may come.</a:t>
            </a:r>
            <a:endParaRPr/>
          </a:p>
        </p:txBody>
      </p:sp>
      <p:sp>
        <p:nvSpPr>
          <p:cNvPr id="316" name="Google Shape;31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Scanning = what's there; enumeration = what exactly + details, via active connections. Corridor/doors analogy. Mention common ports.</a:t>
            </a:r>
            <a:endParaRPr/>
          </a:p>
        </p:txBody>
      </p:sp>
      <p:sp>
        <p:nvSpPr>
          <p:cNvPr id="377" name="Google Shape;37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Simplest enumeration. Banners volunteer version info; match against CVEs. If asked about legality: still active interaction — only on authorised systems.</a:t>
            </a:r>
            <a:endParaRPr/>
          </a:p>
        </p:txBody>
      </p:sp>
      <p:sp>
        <p:nvSpPr>
          <p:cNvPr id="400" name="Google Shape;4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if you can. Nmap -sV is the key takeaway tool.</a:t>
            </a:r>
            <a:endParaRPr/>
          </a:p>
        </p:txBody>
      </p:sp>
      <p:sp>
        <p:nvSpPr>
          <p:cNvPr id="414" name="Google Shape;41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DNS = internet phone book; goldmine for mapping structure. Walk the record types. TXT records become relevant in Module 4 (SPF/DKIM).</a:t>
            </a:r>
            <a:endParaRPr/>
          </a:p>
        </p:txBody>
      </p:sp>
      <p:sp>
        <p:nvSpPr>
          <p:cNvPr id="430" name="Google Shape;43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Zone transfer is the classic embarrassing misconfig. Ask why subdomains help an attacker (forgotten doors).</a:t>
            </a:r>
            <a:endParaRPr/>
          </a:p>
        </p:txBody>
      </p:sp>
      <p:sp>
        <p:nvSpPr>
          <p:cNvPr id="458" name="Google Shape;45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SMTP on port 25 can confirm valid users -&gt; account list for attacks/phishing.</a:t>
            </a:r>
            <a:endParaRPr/>
          </a:p>
        </p:txBody>
      </p:sp>
      <p:sp>
        <p:nvSpPr>
          <p:cNvPr id="477" name="Google Shape;47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VRFY admin -&gt; 250 means admin is real. smtp-user-enum automates it. Defence: disable VRFY/EXPN.</a:t>
            </a:r>
            <a:endParaRPr/>
          </a:p>
        </p:txBody>
      </p:sp>
      <p:sp>
        <p:nvSpPr>
          <p:cNvPr id="491" name="Google Shape;49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UDP 161. Community string = plaintext password; defaults public/private. MIB = config database. Defence: SNMPv3.</a:t>
            </a:r>
            <a:endParaRPr/>
          </a:p>
        </p:txBody>
      </p:sp>
      <p:sp>
        <p:nvSpPr>
          <p:cNvPr id="514" name="Google Shape;51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snmpwalk walks the MIB. Lead into the break, then OSINT.</a:t>
            </a:r>
            <a:endParaRPr/>
          </a:p>
        </p:txBody>
      </p:sp>
      <p:sp>
        <p:nvSpPr>
          <p:cNvPr id="530" name="Google Shape;53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7-min break. Use it to ready your terminal and demo tabs for Module 3.</a:t>
            </a:r>
            <a:endParaRPr/>
          </a:p>
        </p:txBody>
      </p:sp>
      <p:sp>
        <p:nvSpPr>
          <p:cNvPr id="548" name="Google Shape;54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Recon is the first kill-chain phase. More recon = easier everything else.</a:t>
            </a:r>
            <a:endParaRPr/>
          </a:p>
        </p:txBody>
      </p:sp>
      <p:sp>
        <p:nvSpPr>
          <p:cNvPr id="568" name="Google Shape;56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Passive = invisible, no target interaction. Active = Module 2, richer but detectable. Lean passive first.</a:t>
            </a:r>
            <a:endParaRPr/>
          </a:p>
        </p:txBody>
      </p:sp>
      <p:sp>
        <p:nvSpPr>
          <p:cNvPr id="594" name="Google Shape;59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Everything here is published by the org or in public records. The attacker is a thorough reader. crt.sh and Shodan are standouts.</a:t>
            </a:r>
            <a:endParaRPr/>
          </a:p>
        </p:txBody>
      </p:sp>
      <p:sp>
        <p:nvSpPr>
          <p:cNvPr id="617" name="Google Shape;61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the tools, don't dwell. Theme: it's all public info, just collected thoroughly.</a:t>
            </a:r>
            <a:endParaRPr/>
          </a:p>
        </p:txBody>
      </p:sp>
      <p:sp>
        <p:nvSpPr>
          <p:cNvPr id="656" name="Google Shape;65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Active recon = Module 2 techniques. Trade-off: detail vs detectability. Run the ask-the-room prompt.</a:t>
            </a:r>
            <a:endParaRPr/>
          </a:p>
        </p:txBody>
      </p:sp>
      <p:sp>
        <p:nvSpPr>
          <p:cNvPr id="689" name="Google Shape;68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OSINT = open-source intelligence. Neutral skill; defenders, investigators, journalists all use it.</a:t>
            </a:r>
            <a:endParaRPr/>
          </a:p>
        </p:txBody>
      </p:sp>
      <p:sp>
        <p:nvSpPr>
          <p:cNvPr id="704" name="Google Shape;70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Safe live demo: filetype:pdf site:gov.in or your own org. Mention GHDB. Defence: security through obscurity fails. Transition to Module 4: recon feeds the perfect lie.</a:t>
            </a:r>
            <a:endParaRPr/>
          </a:p>
        </p:txBody>
      </p:sp>
      <p:sp>
        <p:nvSpPr>
          <p:cNvPr id="718" name="Google Shape;71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Social engineering = hacking people. Recon makes lies believable. Most breaches start here.</a:t>
            </a:r>
            <a:endParaRPr/>
          </a:p>
        </p:txBody>
      </p:sp>
      <p:sp>
        <p:nvSpPr>
          <p:cNvPr id="745" name="Google Shape;74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Cialdini's principles. Stress: these exploit our BEST instincts. Authority + urgency = the classic phishing fingerprint.</a:t>
            </a:r>
            <a:endParaRPr/>
          </a:p>
        </p:txBody>
      </p:sp>
      <p:sp>
        <p:nvSpPr>
          <p:cNvPr id="759" name="Google Shape;75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Family tree. Spear phishing/whaling/BEC are the dangerous targeted ones. Vishing/smishing = channel variants.</a:t>
            </a:r>
            <a:endParaRPr/>
          </a:p>
        </p:txBody>
      </p:sp>
      <p:sp>
        <p:nvSpPr>
          <p:cNvPr id="799" name="Google Shape;79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Five-part skeleton. Teach red flags. Golden rule: verify out-of-band; replying still talks to the attacker.</a:t>
            </a:r>
            <a:endParaRPr/>
          </a:p>
        </p:txBody>
      </p:sp>
      <p:sp>
        <p:nvSpPr>
          <p:cNvPr id="832" name="Google Shape;83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isn't only email. Physical and psychological vectors. Baiting + tailgating land well with audiences.</a:t>
            </a:r>
            <a:endParaRPr/>
          </a:p>
        </p:txBody>
      </p:sp>
      <p:sp>
        <p:nvSpPr>
          <p:cNvPr id="865" name="Google Shape;86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3" name="Google Shape;90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Real, documented cases. Common thread: no fancy exploit needed. Awareness itself is a control.</a:t>
            </a:r>
            <a:endParaRPr/>
          </a:p>
        </p:txBody>
      </p:sp>
      <p:sp>
        <p:nvSpPr>
          <p:cNvPr id="904" name="Google Shape;90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Layered defence. MFA is the single highest-value control. Reporting culture over shaming.</a:t>
            </a:r>
            <a:endParaRPr/>
          </a:p>
        </p:txBody>
      </p:sp>
      <p:sp>
        <p:nvSpPr>
          <p:cNvPr id="934" name="Google Shape;934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2" name="Google Shape;97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Pull the whole session together. End on authorisation again — full circle to slide 3.</a:t>
            </a:r>
            <a:endParaRPr/>
          </a:p>
        </p:txBody>
      </p:sp>
      <p:sp>
        <p:nvSpPr>
          <p:cNvPr id="973" name="Google Shape;973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them to legal practice. Reinforce: always a target you own or are authorised to test.</a:t>
            </a:r>
            <a:endParaRPr/>
          </a:p>
        </p:txBody>
      </p:sp>
      <p:sp>
        <p:nvSpPr>
          <p:cNvPr id="995" name="Google Shape;99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" name="Google Shape;103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on the security mindset. Open the floor. See the script appendix for likely Q&amp;A.</a:t>
            </a:r>
            <a:endParaRPr/>
          </a:p>
        </p:txBody>
      </p:sp>
      <p:sp>
        <p:nvSpPr>
          <p:cNvPr id="1034" name="Google Shape;1034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4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15.png"/><Relationship Id="rId6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Relationship Id="rId4" Type="http://schemas.openxmlformats.org/officeDocument/2006/relationships/image" Target="../media/image50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Relationship Id="rId7" Type="http://schemas.openxmlformats.org/officeDocument/2006/relationships/image" Target="../media/image36.png"/><Relationship Id="rId8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Relationship Id="rId4" Type="http://schemas.openxmlformats.org/officeDocument/2006/relationships/image" Target="../media/image25.png"/><Relationship Id="rId5" Type="http://schemas.openxmlformats.org/officeDocument/2006/relationships/image" Target="../media/image49.png"/><Relationship Id="rId6" Type="http://schemas.openxmlformats.org/officeDocument/2006/relationships/image" Target="../media/image65.png"/><Relationship Id="rId7" Type="http://schemas.openxmlformats.org/officeDocument/2006/relationships/image" Target="../media/image57.png"/><Relationship Id="rId8" Type="http://schemas.openxmlformats.org/officeDocument/2006/relationships/image" Target="../media/image5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Relationship Id="rId5" Type="http://schemas.openxmlformats.org/officeDocument/2006/relationships/image" Target="../media/image55.png"/><Relationship Id="rId6" Type="http://schemas.openxmlformats.org/officeDocument/2006/relationships/image" Target="../media/image58.png"/><Relationship Id="rId7" Type="http://schemas.openxmlformats.org/officeDocument/2006/relationships/image" Target="../media/image52.png"/><Relationship Id="rId8" Type="http://schemas.openxmlformats.org/officeDocument/2006/relationships/image" Target="../media/image6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0.png"/><Relationship Id="rId4" Type="http://schemas.openxmlformats.org/officeDocument/2006/relationships/image" Target="../media/image63.png"/><Relationship Id="rId5" Type="http://schemas.openxmlformats.org/officeDocument/2006/relationships/image" Target="../media/image23.png"/><Relationship Id="rId6" Type="http://schemas.openxmlformats.org/officeDocument/2006/relationships/image" Target="../media/image56.png"/><Relationship Id="rId7" Type="http://schemas.openxmlformats.org/officeDocument/2006/relationships/image" Target="../media/image60.png"/><Relationship Id="rId8" Type="http://schemas.openxmlformats.org/officeDocument/2006/relationships/image" Target="../media/image7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5.png"/><Relationship Id="rId4" Type="http://schemas.openxmlformats.org/officeDocument/2006/relationships/image" Target="../media/image74.png"/><Relationship Id="rId5" Type="http://schemas.openxmlformats.org/officeDocument/2006/relationships/image" Target="../media/image64.png"/><Relationship Id="rId6" Type="http://schemas.openxmlformats.org/officeDocument/2006/relationships/image" Target="../media/image73.png"/><Relationship Id="rId7" Type="http://schemas.openxmlformats.org/officeDocument/2006/relationships/image" Target="../media/image67.png"/><Relationship Id="rId8" Type="http://schemas.openxmlformats.org/officeDocument/2006/relationships/image" Target="../media/image7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13243B"/>
          </a:solidFill>
          <a:ln cap="flat" cmpd="sng" w="254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73152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48640" y="1874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C-DAC KOLKATA  ·  CYBERSECURITY INTERNSHIP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2920" y="2194560"/>
            <a:ext cx="8412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mbria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Vulnerability &amp; Reconnaissance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How attackers profile a target — and how defenders shut them down.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4114800"/>
            <a:ext cx="3012034" cy="411480"/>
          </a:xfrm>
          <a:prstGeom prst="roundRect">
            <a:avLst>
              <a:gd fmla="val 48889" name="adj"/>
            </a:avLst>
          </a:prstGeom>
          <a:solidFill>
            <a:srgbClr val="13243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48640" y="4114800"/>
            <a:ext cx="30120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Vulnerabilities  ·  CVE  ·  CVSS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725266" y="4114800"/>
            <a:ext cx="1245413" cy="411480"/>
          </a:xfrm>
          <a:prstGeom prst="roundRect">
            <a:avLst>
              <a:gd fmla="val 48889" name="adj"/>
            </a:avLst>
          </a:prstGeom>
          <a:solidFill>
            <a:srgbClr val="13243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725266" y="4114800"/>
            <a:ext cx="124541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Enumeration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135270" y="4114800"/>
            <a:ext cx="740664" cy="411480"/>
          </a:xfrm>
          <a:prstGeom prst="roundRect">
            <a:avLst>
              <a:gd fmla="val 48889" name="adj"/>
            </a:avLst>
          </a:prstGeom>
          <a:solidFill>
            <a:srgbClr val="13243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135270" y="4114800"/>
            <a:ext cx="7406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OSINT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040526" y="4114800"/>
            <a:ext cx="2759659" cy="411480"/>
          </a:xfrm>
          <a:prstGeom prst="roundRect">
            <a:avLst>
              <a:gd fmla="val 48889" name="adj"/>
            </a:avLst>
          </a:prstGeom>
          <a:solidFill>
            <a:srgbClr val="13243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040526" y="4114800"/>
            <a:ext cx="27596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Phishing &amp; Social Engineering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48640" y="46817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2-hour beginner session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SESSION 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What we'll cover in two hours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" y="1417320"/>
            <a:ext cx="813816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85800" y="1417320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481328" y="1581912"/>
            <a:ext cx="420624" cy="420624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1912" y="168249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2057400" y="15270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Introduction to Vulnerabilities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057400" y="183794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CVE · CVSS · Attack Surface · OWASP Top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406640" y="1417320"/>
            <a:ext cx="1097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0:08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" y="2286000"/>
            <a:ext cx="813816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85800" y="2286000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481328" y="2450592"/>
            <a:ext cx="420624" cy="420624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1912" y="25511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2057400" y="239572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Enumeration Techniques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2057400" y="270662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Banner grabbing · DNS · SMTP · SNMP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406640" y="2286000"/>
            <a:ext cx="1097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0:43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02920" y="3154680"/>
            <a:ext cx="813816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85800" y="3154680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481328" y="3319272"/>
            <a:ext cx="420624" cy="420624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1912" y="34198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2057400" y="326440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Information Gathering &amp; OSINT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057400" y="35753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Passive &amp; active reconnaissance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406640" y="3154680"/>
            <a:ext cx="1097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1:12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02920" y="4023360"/>
            <a:ext cx="813816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85800" y="4023360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481328" y="4187952"/>
            <a:ext cx="420624" cy="420624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1912" y="428853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2057400" y="413308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Phishing &amp; Social Engineering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057400" y="444398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Techniques · psychology · case studies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406640" y="4023360"/>
            <a:ext cx="1097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1:37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3977640" y="640080"/>
            <a:ext cx="1188720" cy="1188720"/>
          </a:xfrm>
          <a:prstGeom prst="ellipse">
            <a:avLst/>
          </a:prstGeom>
          <a:solidFill>
            <a:srgbClr val="1324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0" y="914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ONE RULE FOR THIS ENTIRE INTERNSHIP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Authorisation is everything.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097280" y="30632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Every technique here is dual-use. The only thing separating a defender from a criminal is written permission and scope.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280160" y="3886200"/>
            <a:ext cx="6583680" cy="685800"/>
          </a:xfrm>
          <a:prstGeom prst="roundRect">
            <a:avLst>
              <a:gd fmla="val 10667" name="adj"/>
            </a:avLst>
          </a:prstGeom>
          <a:solidFill>
            <a:srgbClr val="1A2E1A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1508760" y="388620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In India: </a:t>
            </a:r>
            <a:r>
              <a:rPr b="0" i="0" lang="en-US" sz="11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unauthorised access &amp; scanning fall under the IT Act, 2000 (Sec. 43 &amp; 66). No scope, no test — ever. Practise only on systems you own or have written permission for.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5760720" y="-18288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304E"/>
              </a:buClr>
              <a:buSzPts val="24000"/>
              <a:buFont typeface="Cambria"/>
              <a:buNone/>
            </a:pPr>
            <a:r>
              <a:rPr b="1" i="0" lang="en-US" sz="24000" u="none" cap="none" strike="noStrike">
                <a:solidFill>
                  <a:srgbClr val="16304E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13243B"/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2920" y="278892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to Vulnerabilities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384048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vocabulary, naming (CVE), scoring (CVSS), attack surface, and the OWASP Top 10.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Five words that unlock the field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02920" y="1463040"/>
            <a:ext cx="397764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704088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/>
          <p:nvPr/>
        </p:nvSpPr>
        <p:spPr>
          <a:xfrm>
            <a:off x="1280160" y="164592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Asset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22376" y="2212848"/>
            <a:ext cx="35387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Anything worth protecting — a server, database, data, or reputation.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663440" y="1463040"/>
            <a:ext cx="397764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4864608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5192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5440680" y="164592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Vulnerability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882896" y="2212848"/>
            <a:ext cx="35387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weakness in the asset: a bug, weak password, unlocked window.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02920" y="2697480"/>
            <a:ext cx="397764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704088" y="289864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672" y="29992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1280160" y="288036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Threat (actor)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22376" y="3447288"/>
            <a:ext cx="35387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Anything — or anyone — that could exploit the weakness.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663440" y="2697480"/>
            <a:ext cx="397764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864608" y="289864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5192" y="29992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/>
          <p:nvPr/>
        </p:nvSpPr>
        <p:spPr>
          <a:xfrm>
            <a:off x="5440680" y="288036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Exploit + payload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882896" y="3447288"/>
            <a:ext cx="35387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method/code that uses the flaw; the payload is what it delivers.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02920" y="4114800"/>
            <a:ext cx="8138160" cy="566928"/>
          </a:xfrm>
          <a:prstGeom prst="roundRect">
            <a:avLst>
              <a:gd fmla="val 12903" name="adj"/>
            </a:avLst>
          </a:prstGeom>
          <a:solidFill>
            <a:srgbClr val="0B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31520" y="4114800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RISK  =  Likelihood  ×  Impact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  — the same flaw is low-risk on an offline box, high-risk on a public server.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CVE — a universal name tag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02920" y="1508760"/>
            <a:ext cx="4572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Thousands of new flaws are found every year across millions of products.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CVE = Common Vulnerabilities and Exposures — a unique ID per vulnerability.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Run by MITRE, sponsored by CISA. One name the whole world can agree 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Vendors who can assign IDs are CNAs (Microsoft, Google, Red Hat…).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349240" y="1508760"/>
            <a:ext cx="3291840" cy="2468880"/>
          </a:xfrm>
          <a:prstGeom prst="roundRect">
            <a:avLst>
              <a:gd fmla="val 3704" name="adj"/>
            </a:avLst>
          </a:prstGeom>
          <a:solidFill>
            <a:srgbClr val="13243B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1783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6217920" y="181051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Example 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577840" y="246888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CVE-2021-44228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577840" y="310896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Nicknamed "Log4Shell" — the Log4j flaw that lit up the internet in Dec 2021.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731520" y="4270248"/>
            <a:ext cx="7680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WHY IT MATTERS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One global name means a defender in Kolkata and a vendor in California mean the exact same bug.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Anatomy of a CVE ID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051560" y="1737360"/>
            <a:ext cx="219456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905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051560" y="187452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CVE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051560" y="2514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Fixed prefix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246120" y="1737360"/>
            <a:ext cx="320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3566160" y="1737360"/>
            <a:ext cx="219456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905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3566160" y="187452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2021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566160" y="2514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Year assigned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760720" y="1737360"/>
            <a:ext cx="320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080760" y="1737360"/>
            <a:ext cx="219456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905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6080760" y="187452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44228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080760" y="2514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Unique number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02920" y="3291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Put together: CVE-2021-44228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051560" y="3977640"/>
            <a:ext cx="7040880" cy="73152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587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280160" y="4087368"/>
            <a:ext cx="6583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THE POINT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Once a flaw has a CVE ID, everyone — researchers, vendors, defenders — can reference the exact same bug without confusion.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CVE vs NVD — name vs details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02920" y="1508760"/>
            <a:ext cx="3977640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" y="18836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/>
          <p:nvPr/>
        </p:nvSpPr>
        <p:spPr>
          <a:xfrm>
            <a:off x="1371600" y="17830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CVE  (MITRE)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795528" y="2423160"/>
            <a:ext cx="34747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unique ID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short description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References to advisories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Think: the name tag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663440" y="1508760"/>
            <a:ext cx="3977640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4937760" y="1783080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8344" y="18836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/>
          <p:nvPr/>
        </p:nvSpPr>
        <p:spPr>
          <a:xfrm>
            <a:off x="5532120" y="17830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NVD  (NIST)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956048" y="2423160"/>
            <a:ext cx="34747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CVSS severity score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Which versions are affected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Rich analysis &amp; metadata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Think: the full dossier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02920" y="4434840"/>
            <a:ext cx="8138160" cy="384048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587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731520" y="4544568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LOOK IT UP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Search any CVE on nvd.nist.gov to see the score and affected versions.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CVSS — how bad is it, 0 to 10?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02920" y="1554480"/>
            <a:ext cx="46634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Not all flaws are equal — we need to rank severity to know what to fix first.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3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CVSS = Common Vulnerability Scoring System, maintained by FIRST.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3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Produces a number from 0.0 (none) to 10.0 (maximum severity).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3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Common versions: v3.1 (everywhere) and v4.0 (released late 2023).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440680" y="1645920"/>
            <a:ext cx="3200400" cy="2468880"/>
          </a:xfrm>
          <a:prstGeom prst="roundRect">
            <a:avLst>
              <a:gd fmla="val 4444" name="adj"/>
            </a:avLst>
          </a:prstGeom>
          <a:solidFill>
            <a:srgbClr val="13243B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8745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/>
          <p:nvPr/>
        </p:nvSpPr>
        <p:spPr>
          <a:xfrm>
            <a:off x="5440680" y="31546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EF4444"/>
                </a:solidFill>
                <a:latin typeface="Cambria"/>
                <a:ea typeface="Cambria"/>
                <a:cs typeface="Cambria"/>
                <a:sym typeface="Cambria"/>
              </a:rPr>
              <a:t>10.0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440680" y="3767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Log4Shell scored the maximum.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The five severity bands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502920" y="1691640"/>
            <a:ext cx="1466698" cy="2011680"/>
          </a:xfrm>
          <a:prstGeom prst="roundRect">
            <a:avLst>
              <a:gd fmla="val 6234" name="adj"/>
            </a:avLst>
          </a:prstGeom>
          <a:solidFill>
            <a:srgbClr val="64748B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502920" y="1965960"/>
            <a:ext cx="146669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502920" y="2834640"/>
            <a:ext cx="14666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2170786" y="1691640"/>
            <a:ext cx="1466698" cy="2011680"/>
          </a:xfrm>
          <a:prstGeom prst="roundRect">
            <a:avLst>
              <a:gd fmla="val 6234" name="adj"/>
            </a:avLst>
          </a:prstGeom>
          <a:solidFill>
            <a:srgbClr val="22C55E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2170786" y="1965960"/>
            <a:ext cx="146669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0.1 – 3.9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2170786" y="2834640"/>
            <a:ext cx="14666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3838651" y="1691640"/>
            <a:ext cx="1466698" cy="2011680"/>
          </a:xfrm>
          <a:prstGeom prst="roundRect">
            <a:avLst>
              <a:gd fmla="val 6234" name="adj"/>
            </a:avLst>
          </a:prstGeom>
          <a:solidFill>
            <a:srgbClr val="F59E0B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3838651" y="1965960"/>
            <a:ext cx="146669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4.0 – 6.9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3838651" y="2834640"/>
            <a:ext cx="14666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5506517" y="1691640"/>
            <a:ext cx="1466698" cy="2011680"/>
          </a:xfrm>
          <a:prstGeom prst="roundRect">
            <a:avLst>
              <a:gd fmla="val 6234" name="adj"/>
            </a:avLst>
          </a:prstGeom>
          <a:solidFill>
            <a:srgbClr val="F97316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5506517" y="1965960"/>
            <a:ext cx="146669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7.0 – 8.9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506517" y="2834640"/>
            <a:ext cx="14666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7174382" y="1691640"/>
            <a:ext cx="1466698" cy="2011680"/>
          </a:xfrm>
          <a:prstGeom prst="roundRect">
            <a:avLst>
              <a:gd fmla="val 6234" name="adj"/>
            </a:avLst>
          </a:prstGeom>
          <a:solidFill>
            <a:srgbClr val="EF4444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7174382" y="1965960"/>
            <a:ext cx="146669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9.0 – 10.0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7174382" y="2834640"/>
            <a:ext cx="14666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02920" y="4069080"/>
            <a:ext cx="813816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587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731520" y="4178808"/>
            <a:ext cx="7680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RULE OF THUMB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9 or 10 usually means remotely exploitable, no login needed, full compromise — the patch-tonight bugs.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Where the score comes from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502920" y="1463040"/>
            <a:ext cx="397764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704088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3"/>
          <p:cNvSpPr/>
          <p:nvPr/>
        </p:nvSpPr>
        <p:spPr>
          <a:xfrm>
            <a:off x="1280160" y="164592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Attack Vector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 flipH="1" rot="10800000">
            <a:off x="722376" y="2185416"/>
            <a:ext cx="3538728" cy="27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Network, adjacent, local or physical? Network is worst.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480560" y="1463040"/>
            <a:ext cx="397764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4681728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2312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/>
          <p:nvPr/>
        </p:nvSpPr>
        <p:spPr>
          <a:xfrm>
            <a:off x="5257800" y="164592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Attack Complexity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 flipH="1" rot="10800000">
            <a:off x="4700016" y="2185416"/>
            <a:ext cx="3538728" cy="27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Trivial, or needs special conditions?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02920" y="2395728"/>
            <a:ext cx="397764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704088" y="2596896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672" y="26974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3"/>
          <p:cNvSpPr/>
          <p:nvPr/>
        </p:nvSpPr>
        <p:spPr>
          <a:xfrm>
            <a:off x="1280160" y="2578608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Privileges Required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 flipH="1" rot="10800000">
            <a:off x="722376" y="3118104"/>
            <a:ext cx="3538728" cy="27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Must the attacker already be logged in?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4480560" y="2395728"/>
            <a:ext cx="397764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4681728" y="2596896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2312" y="26974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3"/>
          <p:cNvSpPr/>
          <p:nvPr/>
        </p:nvSpPr>
        <p:spPr>
          <a:xfrm>
            <a:off x="5257800" y="2578608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 Interaction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 flipH="1" rot="10800000">
            <a:off x="4700016" y="3118104"/>
            <a:ext cx="3538728" cy="27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Does a victim have to click something?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02920" y="3328416"/>
            <a:ext cx="813816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704088" y="3529584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672" y="36301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3"/>
          <p:cNvSpPr/>
          <p:nvPr/>
        </p:nvSpPr>
        <p:spPr>
          <a:xfrm>
            <a:off x="1280160" y="3511296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Confidentiality / Integrity / Availability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 flipH="1" rot="10800000">
            <a:off x="722376" y="4050792"/>
            <a:ext cx="7699248" cy="27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CIA triad — can they read, change, or take it down?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Attack surface — every way 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502920" y="1554480"/>
            <a:ext cx="4572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sum of all points where an attacker could get in — or get data out.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3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Every open port, web form, API, login page, USB slot, and employee email.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3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“Reducing the attack surface” = closing the doors &amp; windows you don't need open.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5349240" y="1554480"/>
            <a:ext cx="3291840" cy="2331720"/>
          </a:xfrm>
          <a:prstGeom prst="roundRect">
            <a:avLst>
              <a:gd fmla="val 3922" name="adj"/>
            </a:avLst>
          </a:prstGeom>
          <a:solidFill>
            <a:srgbClr val="13243B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178308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/>
          <p:nvPr/>
        </p:nvSpPr>
        <p:spPr>
          <a:xfrm>
            <a:off x="5440680" y="2606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The house analogy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5532120" y="292608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Every door, window, chimney and letterbox is a way in to watch. Bigger, more complex house = more to defend.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502920" y="4114800"/>
            <a:ext cx="8138160" cy="59436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1587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731520" y="4224528"/>
            <a:ext cx="768096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TWO TERMS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 attack vector is a specific path in (a phishing email, an exposed port); an entry point is where it lands.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Four kinds of attack surface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02920" y="1508760"/>
            <a:ext cx="39776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704088" y="17099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1" name="Google Shape;2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8105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5"/>
          <p:cNvSpPr/>
          <p:nvPr/>
        </p:nvSpPr>
        <p:spPr>
          <a:xfrm>
            <a:off x="1280160" y="169164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722376" y="2258568"/>
            <a:ext cx="3538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Open ports and services reachable over the network.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4663440" y="1508760"/>
            <a:ext cx="39776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4864608" y="17099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5192" y="18105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5"/>
          <p:cNvSpPr/>
          <p:nvPr/>
        </p:nvSpPr>
        <p:spPr>
          <a:xfrm>
            <a:off x="5440680" y="169164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Software / App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4882896" y="2258568"/>
            <a:ext cx="3538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Code, web apps, APIs, third-party libraries (remember Log4j).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502920" y="2880360"/>
            <a:ext cx="39776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704088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672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5"/>
          <p:cNvSpPr/>
          <p:nvPr/>
        </p:nvSpPr>
        <p:spPr>
          <a:xfrm>
            <a:off x="1280160" y="306324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722376" y="3630168"/>
            <a:ext cx="3538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Devices, ports, unlocked rooms, lost laptops.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663440" y="2880360"/>
            <a:ext cx="39776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4864608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5192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5"/>
          <p:cNvSpPr/>
          <p:nvPr/>
        </p:nvSpPr>
        <p:spPr>
          <a:xfrm>
            <a:off x="5440680" y="306324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882896" y="3630168"/>
            <a:ext cx="3538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Your people — anyone who can be tricked. Module 4's whole focus.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OWASP — your free reference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640080" y="1691640"/>
            <a:ext cx="1280160" cy="128016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0116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6"/>
          <p:cNvSpPr/>
          <p:nvPr/>
        </p:nvSpPr>
        <p:spPr>
          <a:xfrm>
            <a:off x="2286000" y="1645920"/>
            <a:ext cx="6309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OWASP = Open Worldwide Application Security Project — a non-profit community.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Produces free, vendor-neutral security tools, guides and standards.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If you go into application security, you'll live on owasp.org.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Their most famous publication, by far: the OWASP Top 10.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1 · 1.5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The OWASP Top 10 (2021)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502920" y="1417320"/>
            <a:ext cx="3977640" cy="512064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621792" y="1517904"/>
            <a:ext cx="310896" cy="310896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621792" y="15179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033272" y="14173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Broken Access Control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502920" y="2020824"/>
            <a:ext cx="3977640" cy="512064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621792" y="2121408"/>
            <a:ext cx="310896" cy="31089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621792" y="21214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1033272" y="202082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Cryptographic Failures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502920" y="2624328"/>
            <a:ext cx="3977640" cy="512064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621792" y="2724912"/>
            <a:ext cx="310896" cy="310896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621792" y="272491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033272" y="26243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Injection (SQLi, XSS)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502920" y="3227832"/>
            <a:ext cx="3977640" cy="512064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621792" y="3328416"/>
            <a:ext cx="310896" cy="31089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621792" y="33284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1033272" y="322783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Insecure Design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502920" y="3831336"/>
            <a:ext cx="3977640" cy="512064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621792" y="3931920"/>
            <a:ext cx="310896" cy="31089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621792" y="39319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1033272" y="383133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Security Misconfiguration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4480560" y="1417320"/>
            <a:ext cx="3977640" cy="512064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4599432" y="1517904"/>
            <a:ext cx="310896" cy="310896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4599432" y="15179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5010912" y="14173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Vulnerable &amp; Outdated Components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4480560" y="2020824"/>
            <a:ext cx="3977640" cy="512064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4599432" y="2121408"/>
            <a:ext cx="310896" cy="31089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4599432" y="21214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5010912" y="202082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Identification &amp; Auth Failures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4480560" y="2624328"/>
            <a:ext cx="3977640" cy="512064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4599432" y="2724912"/>
            <a:ext cx="310896" cy="31089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4599432" y="272491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5010912" y="26243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Software &amp; Data Integrity Failures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480560" y="3227832"/>
            <a:ext cx="3977640" cy="512064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4599432" y="3328416"/>
            <a:ext cx="310896" cy="31089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4599432" y="33284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5010912" y="322783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Logging &amp; Monitoring Failures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4480560" y="3831336"/>
            <a:ext cx="3977640" cy="512064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4599432" y="3931920"/>
            <a:ext cx="310896" cy="31089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4599432" y="39319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5010912" y="383133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Server-Side Request Forgery (SSRF)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Highlighted = the heavy hitters you'll meet first. OWASP refreshes this every few years — check owasp.org.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/>
          <p:nvPr/>
        </p:nvSpPr>
        <p:spPr>
          <a:xfrm>
            <a:off x="5760720" y="-18288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304E"/>
              </a:buClr>
              <a:buSzPts val="24000"/>
              <a:buFont typeface="Cambria"/>
              <a:buNone/>
            </a:pPr>
            <a:r>
              <a:rPr b="1" i="0" lang="en-US" sz="24000" u="none" cap="none" strike="noStrike">
                <a:solidFill>
                  <a:srgbClr val="16304E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13243B"/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8"/>
          <p:cNvSpPr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502920" y="278892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Enumeration Techniques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548640" y="384048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Actively asking services what they run — banner grabbing, DNS, SMTP and SNMP.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2 · 2.1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Scanning vs enumeration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502920" y="1463040"/>
            <a:ext cx="3977640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" y="17922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9"/>
          <p:cNvSpPr/>
          <p:nvPr/>
        </p:nvSpPr>
        <p:spPr>
          <a:xfrm>
            <a:off x="1371600" y="16916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Scanning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777240" y="2240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“What's there?”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795528" y="2606040"/>
            <a:ext cx="3474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Which hosts are alive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Which ports are open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map of doors in the corridor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4663440" y="1463040"/>
            <a:ext cx="3977640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4937760" y="1691640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8344" y="17922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9"/>
          <p:cNvSpPr/>
          <p:nvPr/>
        </p:nvSpPr>
        <p:spPr>
          <a:xfrm>
            <a:off x="5532120" y="16916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Enumeration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4937760" y="2240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“What exactly is running?”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4956048" y="2606040"/>
            <a:ext cx="3474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Software names &amp; versions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Usernames, shares, config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Opening each door &amp; noting everything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502920" y="4389120"/>
            <a:ext cx="813816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587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731520" y="4498848"/>
            <a:ext cx="76809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PORTS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Numbered doors on a server: 80/443 web · 22 SSH · 25 SMTP · 53 DNS · 161 SNMP.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2 · 2.2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Banner grabbing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640080" y="1691640"/>
            <a:ext cx="1188720" cy="118872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0116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0"/>
          <p:cNvSpPr/>
          <p:nvPr/>
        </p:nvSpPr>
        <p:spPr>
          <a:xfrm>
            <a:off x="2194560" y="1600200"/>
            <a:ext cx="6400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Many services greet you with a banner — a text intro that often names the software and version.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Like knocking and hearing “Apache 2.4.41 here!” before you even ask.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Version + CVE database = a shortlist of doors that might be unlocked.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731520" y="4270248"/>
            <a:ext cx="7680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DEFENCE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Configure services not to advertise exact versions. It doesn't fix the bug, but removes a free signpost.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2 · 2.2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Banner grabbing in practice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502920" y="1508760"/>
            <a:ext cx="5257800" cy="3154680"/>
          </a:xfrm>
          <a:prstGeom prst="roundRect">
            <a:avLst>
              <a:gd fmla="val 1739" name="adj"/>
            </a:avLst>
          </a:prstGeom>
          <a:solidFill>
            <a:srgbClr val="0B2030"/>
          </a:solidFill>
          <a:ln cap="flat" cmpd="sng" w="12700">
            <a:solidFill>
              <a:srgbClr val="164863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731520" y="161848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Common techniques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731520" y="1920240"/>
            <a:ext cx="48006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# netcat: ask a web server for headers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nc target.com 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HEAD / HTTP/1.0     (Enter twice)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# telnet to SSH / mail 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telnet target.com 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# Nmap service + version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nmap -sV target.com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# curl shows the Server header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curl -I https://target.com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5943600" y="1508760"/>
            <a:ext cx="2697480" cy="3154680"/>
          </a:xfrm>
          <a:prstGeom prst="roundRect">
            <a:avLst>
              <a:gd fmla="val 3390" name="adj"/>
            </a:avLst>
          </a:prstGeom>
          <a:solidFill>
            <a:srgbClr val="13243B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18288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1"/>
          <p:cNvSpPr/>
          <p:nvPr/>
        </p:nvSpPr>
        <p:spPr>
          <a:xfrm>
            <a:off x="6080760" y="242316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Nmap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6126480" y="2834640"/>
            <a:ext cx="2331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“Network Mapper” — the workhorse of this module. -sV probes ports for service &amp; version. Free, everywhere, you'll use it for years.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2 · 2.3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DNS enumeration — the phone book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502920" y="1417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DNS turns names (example.com) into IPs. Its records reveal an organisation's structure — mail servers, subdomains, hidden sites.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502920" y="205740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667512" y="21488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A / AAAA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667512" y="2441448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IPv4 / IPv6 address of a name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3227832" y="205740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3392424" y="21488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MX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3392424" y="2441448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Mail servers — who handles their email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5952744" y="205740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6117336" y="21488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6117336" y="2441448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Authoritative name servers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502920" y="2944368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667512" y="303580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TXT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667512" y="3328416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Free text: SPF, DKIM &amp; config clues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3227832" y="2944368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2"/>
          <p:cNvSpPr/>
          <p:nvPr/>
        </p:nvSpPr>
        <p:spPr>
          <a:xfrm>
            <a:off x="3392424" y="303580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CNAME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392424" y="3328416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 alias pointing to another name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5952744" y="2944368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2"/>
          <p:cNvSpPr/>
          <p:nvPr/>
        </p:nvSpPr>
        <p:spPr>
          <a:xfrm>
            <a:off x="6117336" y="303580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SOA / PTR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6117336" y="3328416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Zone admin info / reverse IP-to-name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3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2 · 2.3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DNS tools &amp; zone transfers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502920" y="1463040"/>
            <a:ext cx="4709160" cy="2331720"/>
          </a:xfrm>
          <a:prstGeom prst="roundRect">
            <a:avLst>
              <a:gd fmla="val 2353" name="adj"/>
            </a:avLst>
          </a:prstGeom>
          <a:solidFill>
            <a:srgbClr val="0B2030"/>
          </a:solidFill>
          <a:ln cap="flat" cmpd="sng" w="12700">
            <a:solidFill>
              <a:srgbClr val="164863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3"/>
          <p:cNvSpPr/>
          <p:nvPr/>
        </p:nvSpPr>
        <p:spPr>
          <a:xfrm>
            <a:off x="731520" y="157276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Query the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731520" y="187452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nslookup example.com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dig example.com MX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dig example.com ANY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host -t ns example.com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dnsrecon -d example.com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dnsenum example.com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5440680" y="1463040"/>
            <a:ext cx="3200400" cy="2331720"/>
          </a:xfrm>
          <a:prstGeom prst="roundRect">
            <a:avLst>
              <a:gd fmla="val 3922" name="adj"/>
            </a:avLst>
          </a:prstGeom>
          <a:solidFill>
            <a:srgbClr val="2A1414"/>
          </a:solidFill>
          <a:ln cap="flat" cmpd="sng" w="1587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6" name="Google Shape;4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560" y="16459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3"/>
          <p:cNvSpPr/>
          <p:nvPr/>
        </p:nvSpPr>
        <p:spPr>
          <a:xfrm>
            <a:off x="6126480" y="166420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Zone transfer (AXFR)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5623560" y="214884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ECACA"/>
                </a:solidFill>
                <a:latin typeface="Calibri"/>
                <a:ea typeface="Calibri"/>
                <a:cs typeface="Calibri"/>
                <a:sym typeface="Calibri"/>
              </a:rPr>
              <a:t>Meant to copy a zone to a backup server. If misconfigured to allow anyone, an attacker downloads the entire internal DNS map in one command.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5623560" y="315468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dig axfr @ns1.example.com example.com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502920" y="4023360"/>
            <a:ext cx="813816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587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3"/>
          <p:cNvSpPr/>
          <p:nvPr/>
        </p:nvSpPr>
        <p:spPr>
          <a:xfrm>
            <a:off x="731520" y="4133088"/>
            <a:ext cx="7680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DEFENCE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Restrict zone transfers to authorised secondary servers only. Knowing all subdomains exposes forgotten dev/staging boxes running old, vulnerable code.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2 · 2.4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SMTP enumeration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640080" y="1737360"/>
            <a:ext cx="1188720" cy="118872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05740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4"/>
          <p:cNvSpPr/>
          <p:nvPr/>
        </p:nvSpPr>
        <p:spPr>
          <a:xfrm>
            <a:off x="2194560" y="1645920"/>
            <a:ext cx="6400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SMTP = how mail servers send email, usually on port 25.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5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Old or misconfigured servers will confirm whether a username exists.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50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That lets an attacker build a list of valid employee accounts.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502920" y="4069080"/>
            <a:ext cx="8138160" cy="59436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1587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4"/>
          <p:cNvSpPr/>
          <p:nvPr/>
        </p:nvSpPr>
        <p:spPr>
          <a:xfrm>
            <a:off x="731520" y="4178808"/>
            <a:ext cx="768096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WHY IT MATTERS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verified list of real accounts is perfect ammunition for password attacks and targeted phishing (Module 4).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5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2 · 2.4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SMTP commands &amp; tools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502920" y="1463040"/>
            <a:ext cx="397764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685800" y="15544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VRFY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1965960" y="1463040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“Verify this user exists”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502920" y="2286000"/>
            <a:ext cx="397764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685800" y="23774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EXPN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1965960" y="2286000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Expand a mailing list to members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502920" y="3108960"/>
            <a:ext cx="397764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685800" y="32004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Courier New"/>
                <a:ea typeface="Courier New"/>
                <a:cs typeface="Courier New"/>
                <a:sym typeface="Courier New"/>
              </a:rPr>
              <a:t>RCPT 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1965960" y="3108960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Accept/reject reveals if address is real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4663440" y="1463040"/>
            <a:ext cx="3977640" cy="2267712"/>
          </a:xfrm>
          <a:prstGeom prst="roundRect">
            <a:avLst>
              <a:gd fmla="val 2419" name="adj"/>
            </a:avLst>
          </a:prstGeom>
          <a:solidFill>
            <a:srgbClr val="0B2030"/>
          </a:solidFill>
          <a:ln cap="flat" cmpd="sng" w="12700">
            <a:solidFill>
              <a:srgbClr val="164863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4892040" y="157276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Try 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4892040" y="1874520"/>
            <a:ext cx="3520440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telnet target.com 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VRFY admin            -&gt; 250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VRFY nonexistentuser  -&gt; 550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# automated: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smtp-user-enum -M VRFY \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  -U users.txt -t target.com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502920" y="4023360"/>
            <a:ext cx="813816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731520" y="4133088"/>
            <a:ext cx="7680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DEFENCE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Disable VRFY and EXPN; don't return different responses for valid vs invalid users.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6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2 · 2.5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SNMP enumeration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502920" y="1508760"/>
            <a:ext cx="4572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SNMP manages network devices (routers, switches, printers) on UDP port 161.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Can leak huge detail: processes, accounts, interfaces, installed software.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v1/v2c protect access with a plaintext “community string”.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5349240" y="1508760"/>
            <a:ext cx="3291840" cy="2331720"/>
          </a:xfrm>
          <a:prstGeom prst="roundRect">
            <a:avLst>
              <a:gd fmla="val 3922" name="adj"/>
            </a:avLst>
          </a:prstGeom>
          <a:solidFill>
            <a:srgbClr val="2A1414"/>
          </a:solidFill>
          <a:ln cap="flat" cmpd="sng" w="1587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0" name="Google Shape;5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120" y="16916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6"/>
          <p:cNvSpPr/>
          <p:nvPr/>
        </p:nvSpPr>
        <p:spPr>
          <a:xfrm>
            <a:off x="6035040" y="170992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The killer weakness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6"/>
          <p:cNvSpPr/>
          <p:nvPr/>
        </p:nvSpPr>
        <p:spPr>
          <a:xfrm>
            <a:off x="5532120" y="219456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ECACA"/>
                </a:solidFill>
                <a:latin typeface="Calibri"/>
                <a:ea typeface="Calibri"/>
                <a:cs typeface="Calibri"/>
                <a:sym typeface="Calibri"/>
              </a:rPr>
              <a:t>Default community strings are almost always </a:t>
            </a: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z="1150" u="none" cap="none" strike="noStrike">
                <a:solidFill>
                  <a:srgbClr val="FECACA"/>
                </a:solidFill>
                <a:latin typeface="Calibri"/>
                <a:ea typeface="Calibri"/>
                <a:cs typeface="Calibri"/>
                <a:sym typeface="Calibri"/>
              </a:rPr>
              <a:t> (read) and </a:t>
            </a: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z="1150" u="none" cap="none" strike="noStrike">
                <a:solidFill>
                  <a:srgbClr val="FECACA"/>
                </a:solidFill>
                <a:latin typeface="Calibri"/>
                <a:ea typeface="Calibri"/>
                <a:cs typeface="Calibri"/>
                <a:sym typeface="Calibri"/>
              </a:rPr>
              <a:t> (read/write) — and rarely changed. If public works, the whole device config (the MIB) is readable.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502920" y="4114800"/>
            <a:ext cx="813816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587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6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DEFENCE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 SNMPv3 (real auth + encryption), change default community strings, never expose SNMP to the internet.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6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6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7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2 · 2.5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SNMP tools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502920" y="1554480"/>
            <a:ext cx="5120640" cy="2194560"/>
          </a:xfrm>
          <a:prstGeom prst="roundRect">
            <a:avLst>
              <a:gd fmla="val 2500" name="adj"/>
            </a:avLst>
          </a:prstGeom>
          <a:solidFill>
            <a:srgbClr val="0B2030"/>
          </a:solidFill>
          <a:ln cap="flat" cmpd="sng" w="12700">
            <a:solidFill>
              <a:srgbClr val="164863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7"/>
          <p:cNvSpPr/>
          <p:nvPr/>
        </p:nvSpPr>
        <p:spPr>
          <a:xfrm>
            <a:off x="731520" y="166420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Commands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731520" y="1965960"/>
            <a:ext cx="4663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# guess the community string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onesixtyone -c strings.txt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# dump everything readable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snmpwalk -v2c -c public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# formatted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snmp-check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5852160" y="1554480"/>
            <a:ext cx="2788920" cy="2194560"/>
          </a:xfrm>
          <a:prstGeom prst="roundRect">
            <a:avLst>
              <a:gd fmla="val 4167" name="adj"/>
            </a:avLst>
          </a:prstGeom>
          <a:solidFill>
            <a:srgbClr val="13243B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8" name="Google Shape;5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1783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7"/>
          <p:cNvSpPr/>
          <p:nvPr/>
        </p:nvSpPr>
        <p:spPr>
          <a:xfrm>
            <a:off x="5943600" y="23317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snmpwalk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5989320" y="2697480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Literally “walks” the entire MIB tree and prints it. Against a device with public enabled, that's a full system inventory.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502920" y="4023360"/>
            <a:ext cx="813816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587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731520" y="4133088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TRANSITION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 of Module 2 is noisy — you're touching the target. What if you could learn a lot without touching it at all? That's OSINT.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8"/>
          <p:cNvSpPr/>
          <p:nvPr/>
        </p:nvSpPr>
        <p:spPr>
          <a:xfrm>
            <a:off x="3977640" y="1280160"/>
            <a:ext cx="1188720" cy="1188720"/>
          </a:xfrm>
          <a:prstGeom prst="ellipse">
            <a:avLst/>
          </a:prstGeom>
          <a:solidFill>
            <a:srgbClr val="13243B"/>
          </a:solidFill>
          <a:ln cap="flat" cmpd="sng" w="254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1" name="Google Shape;5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9392" y="158191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8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Break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7 minutes — stretch, water, and we'll dive into OSINT and the human side of security.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9"/>
          <p:cNvSpPr/>
          <p:nvPr/>
        </p:nvSpPr>
        <p:spPr>
          <a:xfrm>
            <a:off x="5760720" y="-18288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304E"/>
              </a:buClr>
              <a:buSzPts val="24000"/>
              <a:buFont typeface="Cambria"/>
              <a:buNone/>
            </a:pPr>
            <a:r>
              <a:rPr b="1" i="0" lang="en-US" sz="24000" u="none" cap="none" strike="noStrike">
                <a:solidFill>
                  <a:srgbClr val="16304E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13243B"/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1" name="Google Shape;5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9"/>
          <p:cNvSpPr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9"/>
          <p:cNvSpPr/>
          <p:nvPr/>
        </p:nvSpPr>
        <p:spPr>
          <a:xfrm>
            <a:off x="502920" y="278892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Information Gathering &amp; OSINT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9"/>
          <p:cNvSpPr/>
          <p:nvPr/>
        </p:nvSpPr>
        <p:spPr>
          <a:xfrm>
            <a:off x="548640" y="384048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Profiling a target from open sources — passively, with no alarms — then active recon.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3 ·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Recon: the first move in any attack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502920" y="1691640"/>
            <a:ext cx="1068542" cy="868680"/>
          </a:xfrm>
          <a:prstGeom prst="roundRect">
            <a:avLst>
              <a:gd fmla="val 8421" name="adj"/>
            </a:avLst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0"/>
          <p:cNvSpPr/>
          <p:nvPr/>
        </p:nvSpPr>
        <p:spPr>
          <a:xfrm>
            <a:off x="457200" y="1691640"/>
            <a:ext cx="115998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Reconnaissance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1681190" y="1691640"/>
            <a:ext cx="1068542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0"/>
          <p:cNvSpPr/>
          <p:nvPr/>
        </p:nvSpPr>
        <p:spPr>
          <a:xfrm>
            <a:off x="1635470" y="1691640"/>
            <a:ext cx="115998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Weaponise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0"/>
          <p:cNvSpPr/>
          <p:nvPr/>
        </p:nvSpPr>
        <p:spPr>
          <a:xfrm>
            <a:off x="2859459" y="1691640"/>
            <a:ext cx="1068542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0"/>
          <p:cNvSpPr/>
          <p:nvPr/>
        </p:nvSpPr>
        <p:spPr>
          <a:xfrm>
            <a:off x="2813739" y="1691640"/>
            <a:ext cx="115998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Deliver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0"/>
          <p:cNvSpPr/>
          <p:nvPr/>
        </p:nvSpPr>
        <p:spPr>
          <a:xfrm>
            <a:off x="4037729" y="1691640"/>
            <a:ext cx="1068542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0"/>
          <p:cNvSpPr/>
          <p:nvPr/>
        </p:nvSpPr>
        <p:spPr>
          <a:xfrm>
            <a:off x="3992009" y="1691640"/>
            <a:ext cx="115998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Exploit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5215999" y="1691640"/>
            <a:ext cx="1068542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0"/>
          <p:cNvSpPr/>
          <p:nvPr/>
        </p:nvSpPr>
        <p:spPr>
          <a:xfrm>
            <a:off x="5170279" y="1691640"/>
            <a:ext cx="115998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Install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6394269" y="1691640"/>
            <a:ext cx="1068542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0"/>
          <p:cNvSpPr/>
          <p:nvPr/>
        </p:nvSpPr>
        <p:spPr>
          <a:xfrm>
            <a:off x="6348549" y="1691640"/>
            <a:ext cx="115998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0"/>
          <p:cNvSpPr/>
          <p:nvPr/>
        </p:nvSpPr>
        <p:spPr>
          <a:xfrm>
            <a:off x="7572538" y="1691640"/>
            <a:ext cx="1068542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0"/>
          <p:cNvSpPr/>
          <p:nvPr/>
        </p:nvSpPr>
        <p:spPr>
          <a:xfrm>
            <a:off x="7526818" y="1691640"/>
            <a:ext cx="115998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502920" y="269748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Lockheed Martin's Cyber Kill Chain — MITRE ATT&amp;CK calls the same first phase “Reconnaissance” too.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502920" y="3246120"/>
            <a:ext cx="813816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587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0"/>
          <p:cNvSpPr/>
          <p:nvPr/>
        </p:nvSpPr>
        <p:spPr>
          <a:xfrm>
            <a:off x="731520" y="3355848"/>
            <a:ext cx="7680960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THE UNCOMFORTABLE TRUTH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more an attacker learns in recon, the easier every later step becomes. A well-recon'd target barely needs a clever exploit — the attacker already knows the names, the tech, and the email format. Recon is the unglamorous 80% of the work.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0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3 ·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Passive vs active reconnaissance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1"/>
          <p:cNvSpPr/>
          <p:nvPr/>
        </p:nvSpPr>
        <p:spPr>
          <a:xfrm>
            <a:off x="502920" y="1463040"/>
            <a:ext cx="3977640" cy="278892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1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0" name="Google Shape;60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" y="17922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1"/>
          <p:cNvSpPr/>
          <p:nvPr/>
        </p:nvSpPr>
        <p:spPr>
          <a:xfrm>
            <a:off x="1371600" y="16916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Passive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777240" y="2240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No interaction with the 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1"/>
          <p:cNvSpPr/>
          <p:nvPr/>
        </p:nvSpPr>
        <p:spPr>
          <a:xfrm>
            <a:off x="795528" y="2606040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Uses third parties: search, records, social media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Target cannot see you doing 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Zero footprint — but limited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1"/>
          <p:cNvSpPr/>
          <p:nvPr/>
        </p:nvSpPr>
        <p:spPr>
          <a:xfrm>
            <a:off x="4663440" y="1463040"/>
            <a:ext cx="3977640" cy="278892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1"/>
          <p:cNvSpPr/>
          <p:nvPr/>
        </p:nvSpPr>
        <p:spPr>
          <a:xfrm>
            <a:off x="4937760" y="1691640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6" name="Google Shape;60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8344" y="17922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1"/>
          <p:cNvSpPr/>
          <p:nvPr/>
        </p:nvSpPr>
        <p:spPr>
          <a:xfrm>
            <a:off x="5532120" y="16916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/>
          <p:nvPr/>
        </p:nvSpPr>
        <p:spPr>
          <a:xfrm>
            <a:off x="4937760" y="2240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Directly touching the 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1"/>
          <p:cNvSpPr/>
          <p:nvPr/>
        </p:nvSpPr>
        <p:spPr>
          <a:xfrm>
            <a:off x="4956048" y="2606040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Pinging, port scans, banner grabbing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Richer, more certain detail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Can be logged and detected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1"/>
          <p:cNvSpPr/>
          <p:nvPr/>
        </p:nvSpPr>
        <p:spPr>
          <a:xfrm>
            <a:off x="502920" y="4434840"/>
            <a:ext cx="8138160" cy="384048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587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1"/>
          <p:cNvSpPr/>
          <p:nvPr/>
        </p:nvSpPr>
        <p:spPr>
          <a:xfrm>
            <a:off x="731520" y="4544568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STRATEGY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 as much passively as possible first; defenders should assume the passive phase already happened.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1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1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2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3 · 3.2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2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How much you learn without touching them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2"/>
          <p:cNvSpPr/>
          <p:nvPr/>
        </p:nvSpPr>
        <p:spPr>
          <a:xfrm>
            <a:off x="502920" y="146304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2"/>
          <p:cNvSpPr/>
          <p:nvPr/>
        </p:nvSpPr>
        <p:spPr>
          <a:xfrm>
            <a:off x="704088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3" name="Google Shape;62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32"/>
          <p:cNvSpPr/>
          <p:nvPr/>
        </p:nvSpPr>
        <p:spPr>
          <a:xfrm>
            <a:off x="1280160" y="164592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WHOIS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2"/>
          <p:cNvSpPr/>
          <p:nvPr/>
        </p:nvSpPr>
        <p:spPr>
          <a:xfrm>
            <a:off x="722376" y="221284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Domain registration info &amp; dates.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2"/>
          <p:cNvSpPr/>
          <p:nvPr/>
        </p:nvSpPr>
        <p:spPr>
          <a:xfrm>
            <a:off x="3282696" y="146304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2"/>
          <p:cNvSpPr/>
          <p:nvPr/>
        </p:nvSpPr>
        <p:spPr>
          <a:xfrm>
            <a:off x="3483864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8" name="Google Shape;62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4448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32"/>
          <p:cNvSpPr/>
          <p:nvPr/>
        </p:nvSpPr>
        <p:spPr>
          <a:xfrm>
            <a:off x="4059936" y="164592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Cert Transparency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2"/>
          <p:cNvSpPr/>
          <p:nvPr/>
        </p:nvSpPr>
        <p:spPr>
          <a:xfrm>
            <a:off x="3502152" y="221284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crt.sh reveals every subdomain ever certified.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2"/>
          <p:cNvSpPr/>
          <p:nvPr/>
        </p:nvSpPr>
        <p:spPr>
          <a:xfrm>
            <a:off x="6062472" y="146304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2"/>
          <p:cNvSpPr/>
          <p:nvPr/>
        </p:nvSpPr>
        <p:spPr>
          <a:xfrm>
            <a:off x="6263640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3" name="Google Shape;63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4224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32"/>
          <p:cNvSpPr/>
          <p:nvPr/>
        </p:nvSpPr>
        <p:spPr>
          <a:xfrm>
            <a:off x="6839712" y="164592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Job postings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2"/>
          <p:cNvSpPr/>
          <p:nvPr/>
        </p:nvSpPr>
        <p:spPr>
          <a:xfrm>
            <a:off x="6281928" y="221284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“Must know AWS, Cisco ASA” = their tech stack.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2"/>
          <p:cNvSpPr/>
          <p:nvPr/>
        </p:nvSpPr>
        <p:spPr>
          <a:xfrm>
            <a:off x="502920" y="288036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2"/>
          <p:cNvSpPr/>
          <p:nvPr/>
        </p:nvSpPr>
        <p:spPr>
          <a:xfrm>
            <a:off x="704088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8" name="Google Shape;63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2"/>
          <p:cNvSpPr/>
          <p:nvPr/>
        </p:nvSpPr>
        <p:spPr>
          <a:xfrm>
            <a:off x="1280160" y="306324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Social media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2"/>
          <p:cNvSpPr/>
          <p:nvPr/>
        </p:nvSpPr>
        <p:spPr>
          <a:xfrm>
            <a:off x="722376" y="363016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Who works there, roles, and oversharing.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2"/>
          <p:cNvSpPr/>
          <p:nvPr/>
        </p:nvSpPr>
        <p:spPr>
          <a:xfrm>
            <a:off x="3282696" y="288036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2"/>
          <p:cNvSpPr/>
          <p:nvPr/>
        </p:nvSpPr>
        <p:spPr>
          <a:xfrm>
            <a:off x="3483864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3" name="Google Shape;643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84448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2"/>
          <p:cNvSpPr/>
          <p:nvPr/>
        </p:nvSpPr>
        <p:spPr>
          <a:xfrm>
            <a:off x="4059936" y="306324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Wayback Machine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2"/>
          <p:cNvSpPr/>
          <p:nvPr/>
        </p:nvSpPr>
        <p:spPr>
          <a:xfrm>
            <a:off x="3502152" y="363016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Archived pages exposing removed info.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2"/>
          <p:cNvSpPr/>
          <p:nvPr/>
        </p:nvSpPr>
        <p:spPr>
          <a:xfrm>
            <a:off x="6062472" y="288036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2"/>
          <p:cNvSpPr/>
          <p:nvPr/>
        </p:nvSpPr>
        <p:spPr>
          <a:xfrm>
            <a:off x="6263640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8" name="Google Shape;648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64224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2"/>
          <p:cNvSpPr/>
          <p:nvPr/>
        </p:nvSpPr>
        <p:spPr>
          <a:xfrm>
            <a:off x="6839712" y="306324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Shodan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2"/>
          <p:cNvSpPr/>
          <p:nvPr/>
        </p:nvSpPr>
        <p:spPr>
          <a:xfrm>
            <a:off x="6281928" y="363016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search engine for exposed devices.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2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2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3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3 · 3.2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3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Tools that automate passive recon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3"/>
          <p:cNvSpPr/>
          <p:nvPr/>
        </p:nvSpPr>
        <p:spPr>
          <a:xfrm>
            <a:off x="502920" y="1463040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3"/>
          <p:cNvSpPr/>
          <p:nvPr/>
        </p:nvSpPr>
        <p:spPr>
          <a:xfrm>
            <a:off x="704088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theHarvester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3"/>
          <p:cNvSpPr/>
          <p:nvPr/>
        </p:nvSpPr>
        <p:spPr>
          <a:xfrm>
            <a:off x="704088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Emails, subdomains &amp; names from public 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3"/>
          <p:cNvSpPr/>
          <p:nvPr/>
        </p:nvSpPr>
        <p:spPr>
          <a:xfrm>
            <a:off x="4663440" y="1463040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3"/>
          <p:cNvSpPr/>
          <p:nvPr/>
        </p:nvSpPr>
        <p:spPr>
          <a:xfrm>
            <a:off x="4864608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Maltego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3"/>
          <p:cNvSpPr/>
          <p:nvPr/>
        </p:nvSpPr>
        <p:spPr>
          <a:xfrm>
            <a:off x="4864608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Visual graph of people, domains &amp; infrastructure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3"/>
          <p:cNvSpPr/>
          <p:nvPr/>
        </p:nvSpPr>
        <p:spPr>
          <a:xfrm>
            <a:off x="502920" y="2231136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3"/>
          <p:cNvSpPr/>
          <p:nvPr/>
        </p:nvSpPr>
        <p:spPr>
          <a:xfrm>
            <a:off x="704088" y="23225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Recon-ng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3"/>
          <p:cNvSpPr/>
          <p:nvPr/>
        </p:nvSpPr>
        <p:spPr>
          <a:xfrm>
            <a:off x="704088" y="25968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Modular recon framework (Metasploit-style)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3"/>
          <p:cNvSpPr/>
          <p:nvPr/>
        </p:nvSpPr>
        <p:spPr>
          <a:xfrm>
            <a:off x="4663440" y="2231136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3"/>
          <p:cNvSpPr/>
          <p:nvPr/>
        </p:nvSpPr>
        <p:spPr>
          <a:xfrm>
            <a:off x="4864608" y="23225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SpiderFoot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3"/>
          <p:cNvSpPr/>
          <p:nvPr/>
        </p:nvSpPr>
        <p:spPr>
          <a:xfrm>
            <a:off x="4864608" y="25968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Automates hundreds of sources at once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3"/>
          <p:cNvSpPr/>
          <p:nvPr/>
        </p:nvSpPr>
        <p:spPr>
          <a:xfrm>
            <a:off x="502920" y="2999232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3"/>
          <p:cNvSpPr/>
          <p:nvPr/>
        </p:nvSpPr>
        <p:spPr>
          <a:xfrm>
            <a:off x="704088" y="30906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Shodan / Censys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3"/>
          <p:cNvSpPr/>
          <p:nvPr/>
        </p:nvSpPr>
        <p:spPr>
          <a:xfrm>
            <a:off x="704088" y="33649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Search engines for exposed devices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3"/>
          <p:cNvSpPr/>
          <p:nvPr/>
        </p:nvSpPr>
        <p:spPr>
          <a:xfrm>
            <a:off x="4663440" y="2999232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3"/>
          <p:cNvSpPr/>
          <p:nvPr/>
        </p:nvSpPr>
        <p:spPr>
          <a:xfrm>
            <a:off x="4864608" y="30906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Sherlock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3"/>
          <p:cNvSpPr/>
          <p:nvPr/>
        </p:nvSpPr>
        <p:spPr>
          <a:xfrm>
            <a:off x="4864608" y="33649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Hunts a username across hundreds of sites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3"/>
          <p:cNvSpPr/>
          <p:nvPr/>
        </p:nvSpPr>
        <p:spPr>
          <a:xfrm>
            <a:off x="502920" y="3767328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3"/>
          <p:cNvSpPr/>
          <p:nvPr/>
        </p:nvSpPr>
        <p:spPr>
          <a:xfrm>
            <a:off x="704088" y="38587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Hunter.io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3"/>
          <p:cNvSpPr/>
          <p:nvPr/>
        </p:nvSpPr>
        <p:spPr>
          <a:xfrm>
            <a:off x="704088" y="4133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Finds a company's email-address format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3"/>
          <p:cNvSpPr/>
          <p:nvPr/>
        </p:nvSpPr>
        <p:spPr>
          <a:xfrm>
            <a:off x="4663440" y="3767328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3"/>
          <p:cNvSpPr/>
          <p:nvPr/>
        </p:nvSpPr>
        <p:spPr>
          <a:xfrm>
            <a:off x="4864608" y="38587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OSINT Framework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3"/>
          <p:cNvSpPr/>
          <p:nvPr/>
        </p:nvSpPr>
        <p:spPr>
          <a:xfrm>
            <a:off x="4864608" y="4133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directory of OSINT sources by category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3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3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4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3 · 3.3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4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Active recon — touching the target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4"/>
          <p:cNvSpPr/>
          <p:nvPr/>
        </p:nvSpPr>
        <p:spPr>
          <a:xfrm>
            <a:off x="502920" y="1554480"/>
            <a:ext cx="45720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Host discovery / ping sweeps  —  nmap -sn 192.168.1.0/24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Port scanning  —  nmap target.com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Service / version detection  —  nmap -sV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Web crawling &amp; directory brute-forcing  —  gobuster, ffuf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4"/>
          <p:cNvSpPr/>
          <p:nvPr/>
        </p:nvSpPr>
        <p:spPr>
          <a:xfrm>
            <a:off x="5349240" y="1554480"/>
            <a:ext cx="3291840" cy="2377440"/>
          </a:xfrm>
          <a:prstGeom prst="roundRect">
            <a:avLst>
              <a:gd fmla="val 3846" name="adj"/>
            </a:avLst>
          </a:prstGeom>
          <a:solidFill>
            <a:srgbClr val="13243B"/>
          </a:solidFill>
          <a:ln>
            <a:noFill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4"/>
          <p:cNvSpPr/>
          <p:nvPr/>
        </p:nvSpPr>
        <p:spPr>
          <a:xfrm>
            <a:off x="5440680" y="17373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The trade-off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4"/>
          <p:cNvSpPr/>
          <p:nvPr/>
        </p:nvSpPr>
        <p:spPr>
          <a:xfrm>
            <a:off x="5532120" y="2148840"/>
            <a:ext cx="29260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Active recon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gives certainty &amp; detail — but generates traffic and logs a defender can detect and trace.</a:t>
            </a:r>
            <a:b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Passive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is invisible but limited. Real work blends both, leaning passive first.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4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4"/>
          <p:cNvSpPr/>
          <p:nvPr/>
        </p:nvSpPr>
        <p:spPr>
          <a:xfrm>
            <a:off x="731520" y="4270248"/>
            <a:ext cx="7680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ASK THE ROOM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What could your org do to shrink passive exposure? (WHOIS privacy, scrub metadata, vaguer job ads, train staff.)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4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4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5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3 · 3.4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OSINT — Open Source Intelligence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640080" y="1691640"/>
            <a:ext cx="1188720" cy="1188720"/>
          </a:xfrm>
          <a:prstGeom prst="ellipse">
            <a:avLst/>
          </a:prstGeom>
          <a:solidFill>
            <a:srgbClr val="F1E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9" name="Google Shape;70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0116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35"/>
          <p:cNvSpPr/>
          <p:nvPr/>
        </p:nvSpPr>
        <p:spPr>
          <a:xfrm>
            <a:off x="2194560" y="160020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Intelligence gathered from publicly available sources — a disciplined practice.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osintframework.com organises hundreds of sources by category (bookmark it).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502920" y="3657600"/>
            <a:ext cx="8138160" cy="100584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587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5"/>
          <p:cNvSpPr/>
          <p:nvPr/>
        </p:nvSpPr>
        <p:spPr>
          <a:xfrm>
            <a:off x="731520" y="3767328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NOT JUST FOR ATTACKERS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Defenders use OSINT for threat intelligence, investigators for fraud cases, journalists for reporting, recruiters every day. It's a neutral skill — what matters is intent and authorisation.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3 · 3.4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6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Google dorking — OSINT with a search bar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6"/>
          <p:cNvSpPr/>
          <p:nvPr/>
        </p:nvSpPr>
        <p:spPr>
          <a:xfrm>
            <a:off x="502920" y="1463040"/>
            <a:ext cx="4937760" cy="2743200"/>
          </a:xfrm>
          <a:prstGeom prst="roundRect">
            <a:avLst>
              <a:gd fmla="val 2000" name="adj"/>
            </a:avLst>
          </a:prstGeom>
          <a:solidFill>
            <a:srgbClr val="0B2030"/>
          </a:solidFill>
          <a:ln cap="flat" cmpd="sng" w="12700">
            <a:solidFill>
              <a:srgbClr val="164863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6"/>
          <p:cNvSpPr/>
          <p:nvPr/>
        </p:nvSpPr>
        <p:spPr>
          <a:xfrm>
            <a:off x="731520" y="15727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Advanced operators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6"/>
          <p:cNvSpPr/>
          <p:nvPr/>
        </p:nvSpPr>
        <p:spPr>
          <a:xfrm>
            <a:off x="731520" y="1874520"/>
            <a:ext cx="44805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site:example.com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filetype:pdf site:example.com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intitle:"index of"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inurl:admin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site:example.com -www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F4F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F4FB"/>
                </a:solidFill>
                <a:latin typeface="Courier New"/>
                <a:ea typeface="Courier New"/>
                <a:cs typeface="Courier New"/>
                <a:sym typeface="Courier New"/>
              </a:rPr>
              <a:t>"password" filetype:xlsx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6"/>
          <p:cNvSpPr/>
          <p:nvPr/>
        </p:nvSpPr>
        <p:spPr>
          <a:xfrm>
            <a:off x="5669280" y="1463040"/>
            <a:ext cx="2971800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6" name="Google Shape;72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0" y="16459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6"/>
          <p:cNvSpPr/>
          <p:nvPr/>
        </p:nvSpPr>
        <p:spPr>
          <a:xfrm>
            <a:off x="6309360" y="164592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tools, just clever searching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6"/>
          <p:cNvSpPr/>
          <p:nvPr/>
        </p:nvSpPr>
        <p:spPr>
          <a:xfrm>
            <a:off x="5852160" y="2194560"/>
            <a:ext cx="260604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People have exposed password sheets, internal docs, even camera feeds this way. The public Google Hacking Database (GHDB) catalogues these queries.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Defence: know what's indexed; never rely on “nobody will find this URL” — that's security through obscurity, and it always fails.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6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6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7"/>
          <p:cNvSpPr/>
          <p:nvPr/>
        </p:nvSpPr>
        <p:spPr>
          <a:xfrm>
            <a:off x="5760720" y="-18288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304E"/>
              </a:buClr>
              <a:buSzPts val="24000"/>
              <a:buFont typeface="Cambria"/>
              <a:buNone/>
            </a:pPr>
            <a:r>
              <a:rPr b="1" i="0" lang="en-US" sz="24000" u="none" cap="none" strike="noStrike">
                <a:solidFill>
                  <a:srgbClr val="16304E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7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13243B"/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8" name="Google Shape;73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37"/>
          <p:cNvSpPr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MODULE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7"/>
          <p:cNvSpPr/>
          <p:nvPr/>
        </p:nvSpPr>
        <p:spPr>
          <a:xfrm>
            <a:off x="502920" y="278892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Phishing &amp; Social Engineering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7"/>
          <p:cNvSpPr/>
          <p:nvPr/>
        </p:nvSpPr>
        <p:spPr>
          <a:xfrm>
            <a:off x="548640" y="384048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Hacking the one part of every system you can't patch: people. Most breaches still start here.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8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4 · 4.1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8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Social engineering = hacking the human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8"/>
          <p:cNvSpPr/>
          <p:nvPr/>
        </p:nvSpPr>
        <p:spPr>
          <a:xfrm>
            <a:off x="640080" y="1737360"/>
            <a:ext cx="1188720" cy="1188720"/>
          </a:xfrm>
          <a:prstGeom prst="ellipse">
            <a:avLst/>
          </a:pr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0" name="Google Shape;75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05740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38"/>
          <p:cNvSpPr/>
          <p:nvPr/>
        </p:nvSpPr>
        <p:spPr>
          <a:xfrm>
            <a:off x="2194560" y="1645920"/>
            <a:ext cx="6400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Manipulating people into giving up info or doing something they shouldn't.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5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Instead of a flaw in the firewall, the attacker finds a flaw in human judgement.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4000"/>
              </a:lnSpc>
              <a:spcBef>
                <a:spcPts val="150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Recon makes the lie believable — they know the names, tech and email format.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8"/>
          <p:cNvSpPr/>
          <p:nvPr/>
        </p:nvSpPr>
        <p:spPr>
          <a:xfrm>
            <a:off x="502920" y="4114800"/>
            <a:ext cx="813816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8"/>
          <p:cNvSpPr/>
          <p:nvPr/>
        </p:nvSpPr>
        <p:spPr>
          <a:xfrm>
            <a:off x="731520" y="4224528"/>
            <a:ext cx="7680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SAY IT PLAINLY   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majority of real-world breaches still start here — not with a Hollywood exploit. The human is the easiest target.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8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8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9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4 · 4.2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9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Why it works: principles of influence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9"/>
          <p:cNvSpPr/>
          <p:nvPr/>
        </p:nvSpPr>
        <p:spPr>
          <a:xfrm>
            <a:off x="502920" y="141732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9"/>
          <p:cNvSpPr/>
          <p:nvPr/>
        </p:nvSpPr>
        <p:spPr>
          <a:xfrm>
            <a:off x="704088" y="161848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5" name="Google Shape;76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719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9"/>
          <p:cNvSpPr/>
          <p:nvPr/>
        </p:nvSpPr>
        <p:spPr>
          <a:xfrm>
            <a:off x="1280160" y="160020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Authority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9"/>
          <p:cNvSpPr/>
          <p:nvPr/>
        </p:nvSpPr>
        <p:spPr>
          <a:xfrm>
            <a:off x="722376" y="216712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“This is the CEO — do it now.” Titles, uniforms, logos.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9"/>
          <p:cNvSpPr/>
          <p:nvPr/>
        </p:nvSpPr>
        <p:spPr>
          <a:xfrm>
            <a:off x="3282696" y="141732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9"/>
          <p:cNvSpPr/>
          <p:nvPr/>
        </p:nvSpPr>
        <p:spPr>
          <a:xfrm>
            <a:off x="3483864" y="161848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0" name="Google Shape;77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4448" y="1719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39"/>
          <p:cNvSpPr/>
          <p:nvPr/>
        </p:nvSpPr>
        <p:spPr>
          <a:xfrm>
            <a:off x="4059936" y="160020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Urgency / Scarcity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9"/>
          <p:cNvSpPr/>
          <p:nvPr/>
        </p:nvSpPr>
        <p:spPr>
          <a:xfrm>
            <a:off x="3502152" y="216712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“Account suspended in 24h.” Pressure kills careful thinking.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9"/>
          <p:cNvSpPr/>
          <p:nvPr/>
        </p:nvSpPr>
        <p:spPr>
          <a:xfrm>
            <a:off x="6062472" y="141732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9"/>
          <p:cNvSpPr/>
          <p:nvPr/>
        </p:nvSpPr>
        <p:spPr>
          <a:xfrm>
            <a:off x="6263640" y="161848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5" name="Google Shape;77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4224" y="1719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39"/>
          <p:cNvSpPr/>
          <p:nvPr/>
        </p:nvSpPr>
        <p:spPr>
          <a:xfrm>
            <a:off x="6839712" y="160020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Social proof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9"/>
          <p:cNvSpPr/>
          <p:nvPr/>
        </p:nvSpPr>
        <p:spPr>
          <a:xfrm>
            <a:off x="6281928" y="216712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“All your colleagues already did this.” We follow the crowd.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9"/>
          <p:cNvSpPr/>
          <p:nvPr/>
        </p:nvSpPr>
        <p:spPr>
          <a:xfrm>
            <a:off x="502920" y="2807208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9"/>
          <p:cNvSpPr/>
          <p:nvPr/>
        </p:nvSpPr>
        <p:spPr>
          <a:xfrm>
            <a:off x="704088" y="3008376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0" name="Google Shape;78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" y="3108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39"/>
          <p:cNvSpPr/>
          <p:nvPr/>
        </p:nvSpPr>
        <p:spPr>
          <a:xfrm>
            <a:off x="1280160" y="2990088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9"/>
          <p:cNvSpPr/>
          <p:nvPr/>
        </p:nvSpPr>
        <p:spPr>
          <a:xfrm>
            <a:off x="722376" y="3557016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 say yes to people we like. Rapport, mirroring, flattery.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9"/>
          <p:cNvSpPr/>
          <p:nvPr/>
        </p:nvSpPr>
        <p:spPr>
          <a:xfrm>
            <a:off x="3282696" y="2807208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9"/>
          <p:cNvSpPr/>
          <p:nvPr/>
        </p:nvSpPr>
        <p:spPr>
          <a:xfrm>
            <a:off x="3483864" y="3008376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5" name="Google Shape;785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84448" y="3108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39"/>
          <p:cNvSpPr/>
          <p:nvPr/>
        </p:nvSpPr>
        <p:spPr>
          <a:xfrm>
            <a:off x="4059936" y="2990088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Reciprocity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9"/>
          <p:cNvSpPr/>
          <p:nvPr/>
        </p:nvSpPr>
        <p:spPr>
          <a:xfrm>
            <a:off x="3502152" y="3557016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small favour makes us feel obliged to return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9"/>
          <p:cNvSpPr/>
          <p:nvPr/>
        </p:nvSpPr>
        <p:spPr>
          <a:xfrm>
            <a:off x="6062472" y="2807208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9"/>
          <p:cNvSpPr/>
          <p:nvPr/>
        </p:nvSpPr>
        <p:spPr>
          <a:xfrm>
            <a:off x="6263640" y="3008376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0" name="Google Shape;790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64224" y="3108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39"/>
          <p:cNvSpPr/>
          <p:nvPr/>
        </p:nvSpPr>
        <p:spPr>
          <a:xfrm>
            <a:off x="6839712" y="2990088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Commitment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9"/>
          <p:cNvSpPr/>
          <p:nvPr/>
        </p:nvSpPr>
        <p:spPr>
          <a:xfrm>
            <a:off x="6281928" y="3557016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Agree to something small, then stay consistent with the bigger ask.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9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None are weaknesses of “stupid” people — they're features of normal, cooperative humans. The big two: authority + urgency.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9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9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4 · 4.3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0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The phishing family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40"/>
          <p:cNvSpPr/>
          <p:nvPr/>
        </p:nvSpPr>
        <p:spPr>
          <a:xfrm>
            <a:off x="502920" y="1463040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40"/>
          <p:cNvSpPr/>
          <p:nvPr/>
        </p:nvSpPr>
        <p:spPr>
          <a:xfrm>
            <a:off x="704088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Phishing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0"/>
          <p:cNvSpPr/>
          <p:nvPr/>
        </p:nvSpPr>
        <p:spPr>
          <a:xfrm>
            <a:off x="704088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Broad, untargeted cast to thousands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0"/>
          <p:cNvSpPr/>
          <p:nvPr/>
        </p:nvSpPr>
        <p:spPr>
          <a:xfrm>
            <a:off x="4663440" y="1463040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0"/>
          <p:cNvSpPr/>
          <p:nvPr/>
        </p:nvSpPr>
        <p:spPr>
          <a:xfrm>
            <a:off x="4864608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Spear phishing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0"/>
          <p:cNvSpPr/>
          <p:nvPr/>
        </p:nvSpPr>
        <p:spPr>
          <a:xfrm>
            <a:off x="4864608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Targeted, tailored using recon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0"/>
          <p:cNvSpPr/>
          <p:nvPr/>
        </p:nvSpPr>
        <p:spPr>
          <a:xfrm>
            <a:off x="502920" y="2231136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40"/>
          <p:cNvSpPr/>
          <p:nvPr/>
        </p:nvSpPr>
        <p:spPr>
          <a:xfrm>
            <a:off x="704088" y="23225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Whaling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0"/>
          <p:cNvSpPr/>
          <p:nvPr/>
        </p:nvSpPr>
        <p:spPr>
          <a:xfrm>
            <a:off x="704088" y="25968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Aimed at executives — the big fish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0"/>
          <p:cNvSpPr/>
          <p:nvPr/>
        </p:nvSpPr>
        <p:spPr>
          <a:xfrm>
            <a:off x="4663440" y="2231136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0"/>
          <p:cNvSpPr/>
          <p:nvPr/>
        </p:nvSpPr>
        <p:spPr>
          <a:xfrm>
            <a:off x="4864608" y="23225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BEC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40"/>
          <p:cNvSpPr/>
          <p:nvPr/>
        </p:nvSpPr>
        <p:spPr>
          <a:xfrm>
            <a:off x="4864608" y="25968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Impersonate exec/vendor for wire fraud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0"/>
          <p:cNvSpPr/>
          <p:nvPr/>
        </p:nvSpPr>
        <p:spPr>
          <a:xfrm>
            <a:off x="502920" y="2999232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0"/>
          <p:cNvSpPr/>
          <p:nvPr/>
        </p:nvSpPr>
        <p:spPr>
          <a:xfrm>
            <a:off x="704088" y="30906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Vishing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0"/>
          <p:cNvSpPr/>
          <p:nvPr/>
        </p:nvSpPr>
        <p:spPr>
          <a:xfrm>
            <a:off x="704088" y="33649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Voice phishing — phone calls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0"/>
          <p:cNvSpPr/>
          <p:nvPr/>
        </p:nvSpPr>
        <p:spPr>
          <a:xfrm>
            <a:off x="4663440" y="2999232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0"/>
          <p:cNvSpPr/>
          <p:nvPr/>
        </p:nvSpPr>
        <p:spPr>
          <a:xfrm>
            <a:off x="4864608" y="30906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Smishing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0"/>
          <p:cNvSpPr/>
          <p:nvPr/>
        </p:nvSpPr>
        <p:spPr>
          <a:xfrm>
            <a:off x="4864608" y="33649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Phishing by SMS 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0"/>
          <p:cNvSpPr/>
          <p:nvPr/>
        </p:nvSpPr>
        <p:spPr>
          <a:xfrm>
            <a:off x="502920" y="3767328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0"/>
          <p:cNvSpPr/>
          <p:nvPr/>
        </p:nvSpPr>
        <p:spPr>
          <a:xfrm>
            <a:off x="704088" y="38587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Clone phishing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0"/>
          <p:cNvSpPr/>
          <p:nvPr/>
        </p:nvSpPr>
        <p:spPr>
          <a:xfrm>
            <a:off x="704088" y="4133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Copy a real email, swap the link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0"/>
          <p:cNvSpPr/>
          <p:nvPr/>
        </p:nvSpPr>
        <p:spPr>
          <a:xfrm>
            <a:off x="4663440" y="3767328"/>
            <a:ext cx="3977640" cy="676656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40"/>
          <p:cNvSpPr/>
          <p:nvPr/>
        </p:nvSpPr>
        <p:spPr>
          <a:xfrm>
            <a:off x="4864608" y="38587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Angler phishing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0"/>
          <p:cNvSpPr/>
          <p:nvPr/>
        </p:nvSpPr>
        <p:spPr>
          <a:xfrm>
            <a:off x="4864608" y="4133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Fake support on social media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0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0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4 · 4.3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Anatomy of a phishing message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1"/>
          <p:cNvSpPr/>
          <p:nvPr/>
        </p:nvSpPr>
        <p:spPr>
          <a:xfrm>
            <a:off x="502920" y="1417320"/>
            <a:ext cx="52120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41"/>
          <p:cNvSpPr/>
          <p:nvPr/>
        </p:nvSpPr>
        <p:spPr>
          <a:xfrm>
            <a:off x="640080" y="1536192"/>
            <a:ext cx="329184" cy="32918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41"/>
          <p:cNvSpPr/>
          <p:nvPr/>
        </p:nvSpPr>
        <p:spPr>
          <a:xfrm>
            <a:off x="640080" y="15361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1"/>
          <p:cNvSpPr/>
          <p:nvPr/>
        </p:nvSpPr>
        <p:spPr>
          <a:xfrm>
            <a:off x="1097280" y="1417320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Spoofed / look-alike sender  </a:t>
            </a:r>
            <a:r>
              <a:rPr b="0" i="0" lang="en-US" sz="103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support@paypa1.com (that's a one, not an L).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1"/>
          <p:cNvSpPr/>
          <p:nvPr/>
        </p:nvSpPr>
        <p:spPr>
          <a:xfrm>
            <a:off x="502920" y="2057400"/>
            <a:ext cx="52120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41"/>
          <p:cNvSpPr/>
          <p:nvPr/>
        </p:nvSpPr>
        <p:spPr>
          <a:xfrm>
            <a:off x="640080" y="2176272"/>
            <a:ext cx="329184" cy="32918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41"/>
          <p:cNvSpPr/>
          <p:nvPr/>
        </p:nvSpPr>
        <p:spPr>
          <a:xfrm>
            <a:off x="640080" y="21762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1"/>
          <p:cNvSpPr/>
          <p:nvPr/>
        </p:nvSpPr>
        <p:spPr>
          <a:xfrm>
            <a:off x="1097280" y="2057400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pretext  </a:t>
            </a:r>
            <a:r>
              <a:rPr b="0" i="0" lang="en-US" sz="103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“Security alert.” “Invoice attached.” The believable story.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1"/>
          <p:cNvSpPr/>
          <p:nvPr/>
        </p:nvSpPr>
        <p:spPr>
          <a:xfrm>
            <a:off x="502920" y="2697480"/>
            <a:ext cx="52120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41"/>
          <p:cNvSpPr/>
          <p:nvPr/>
        </p:nvSpPr>
        <p:spPr>
          <a:xfrm>
            <a:off x="640080" y="2816352"/>
            <a:ext cx="329184" cy="32918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41"/>
          <p:cNvSpPr/>
          <p:nvPr/>
        </p:nvSpPr>
        <p:spPr>
          <a:xfrm>
            <a:off x="640080" y="28163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1"/>
          <p:cNvSpPr/>
          <p:nvPr/>
        </p:nvSpPr>
        <p:spPr>
          <a:xfrm>
            <a:off x="1097280" y="2697480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 emotional trigger  </a:t>
            </a:r>
            <a:r>
              <a:rPr b="0" i="0" lang="en-US" sz="103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Urgency, fear, curiosity, authority — the Cialdini levers.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1"/>
          <p:cNvSpPr/>
          <p:nvPr/>
        </p:nvSpPr>
        <p:spPr>
          <a:xfrm>
            <a:off x="502920" y="3337560"/>
            <a:ext cx="52120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1"/>
          <p:cNvSpPr/>
          <p:nvPr/>
        </p:nvSpPr>
        <p:spPr>
          <a:xfrm>
            <a:off x="640080" y="3456432"/>
            <a:ext cx="329184" cy="32918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1"/>
          <p:cNvSpPr/>
          <p:nvPr/>
        </p:nvSpPr>
        <p:spPr>
          <a:xfrm>
            <a:off x="640080" y="34564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1"/>
          <p:cNvSpPr/>
          <p:nvPr/>
        </p:nvSpPr>
        <p:spPr>
          <a:xfrm>
            <a:off x="1097280" y="3337560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call to action  </a:t>
            </a:r>
            <a:r>
              <a:rPr b="0" i="0" lang="en-US" sz="103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Click the link, open the attachment, reply with info.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1"/>
          <p:cNvSpPr/>
          <p:nvPr/>
        </p:nvSpPr>
        <p:spPr>
          <a:xfrm>
            <a:off x="502920" y="3977640"/>
            <a:ext cx="5212080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41"/>
          <p:cNvSpPr/>
          <p:nvPr/>
        </p:nvSpPr>
        <p:spPr>
          <a:xfrm>
            <a:off x="640080" y="4096512"/>
            <a:ext cx="329184" cy="32918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41"/>
          <p:cNvSpPr/>
          <p:nvPr/>
        </p:nvSpPr>
        <p:spPr>
          <a:xfrm>
            <a:off x="640080" y="40965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1"/>
          <p:cNvSpPr/>
          <p:nvPr/>
        </p:nvSpPr>
        <p:spPr>
          <a:xfrm>
            <a:off x="1097280" y="3977640"/>
            <a:ext cx="4526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payload  </a:t>
            </a:r>
            <a:r>
              <a:rPr b="0" i="0" lang="en-US" sz="103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A fake login page or a malicious attachment.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1"/>
          <p:cNvSpPr/>
          <p:nvPr/>
        </p:nvSpPr>
        <p:spPr>
          <a:xfrm>
            <a:off x="5897880" y="1417320"/>
            <a:ext cx="2743200" cy="3154680"/>
          </a:xfrm>
          <a:prstGeom prst="roundRect">
            <a:avLst>
              <a:gd fmla="val 3333" name="adj"/>
            </a:avLst>
          </a:prstGeom>
          <a:solidFill>
            <a:srgbClr val="1A2E1A"/>
          </a:solidFill>
          <a:ln cap="flat" cmpd="sng" w="1587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7" name="Google Shape;85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60" y="16276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41"/>
          <p:cNvSpPr/>
          <p:nvPr/>
        </p:nvSpPr>
        <p:spPr>
          <a:xfrm>
            <a:off x="6537960" y="162763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The golden rule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1"/>
          <p:cNvSpPr/>
          <p:nvPr/>
        </p:nvSpPr>
        <p:spPr>
          <a:xfrm>
            <a:off x="6080760" y="2148840"/>
            <a:ext cx="23774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When in doubt, verify through a separate channel.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Urgent email from your boss? Call them on a known number. Don't reply — that's still the attacker.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1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1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2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4 · 4.4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2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Beyond email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2"/>
          <p:cNvSpPr/>
          <p:nvPr/>
        </p:nvSpPr>
        <p:spPr>
          <a:xfrm>
            <a:off x="502920" y="146304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2"/>
          <p:cNvSpPr/>
          <p:nvPr/>
        </p:nvSpPr>
        <p:spPr>
          <a:xfrm>
            <a:off x="704088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1" name="Google Shape;87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42"/>
          <p:cNvSpPr/>
          <p:nvPr/>
        </p:nvSpPr>
        <p:spPr>
          <a:xfrm>
            <a:off x="1280160" y="164592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Pretexting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2"/>
          <p:cNvSpPr/>
          <p:nvPr/>
        </p:nvSpPr>
        <p:spPr>
          <a:xfrm>
            <a:off x="722376" y="221284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Inventing an identity/scenario to extract info.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2"/>
          <p:cNvSpPr/>
          <p:nvPr/>
        </p:nvSpPr>
        <p:spPr>
          <a:xfrm>
            <a:off x="3282696" y="146304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2"/>
          <p:cNvSpPr/>
          <p:nvPr/>
        </p:nvSpPr>
        <p:spPr>
          <a:xfrm>
            <a:off x="3483864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6" name="Google Shape;87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4448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42"/>
          <p:cNvSpPr/>
          <p:nvPr/>
        </p:nvSpPr>
        <p:spPr>
          <a:xfrm>
            <a:off x="4059936" y="164592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Baiting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2"/>
          <p:cNvSpPr/>
          <p:nvPr/>
        </p:nvSpPr>
        <p:spPr>
          <a:xfrm>
            <a:off x="3502152" y="221284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malware USB labelled “Salaries 2024” in the car park.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2"/>
          <p:cNvSpPr/>
          <p:nvPr/>
        </p:nvSpPr>
        <p:spPr>
          <a:xfrm>
            <a:off x="6062472" y="146304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42"/>
          <p:cNvSpPr/>
          <p:nvPr/>
        </p:nvSpPr>
        <p:spPr>
          <a:xfrm>
            <a:off x="6263640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1" name="Google Shape;88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4224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42"/>
          <p:cNvSpPr/>
          <p:nvPr/>
        </p:nvSpPr>
        <p:spPr>
          <a:xfrm>
            <a:off x="6839712" y="164592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Quid pro quo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2"/>
          <p:cNvSpPr/>
          <p:nvPr/>
        </p:nvSpPr>
        <p:spPr>
          <a:xfrm>
            <a:off x="6281928" y="221284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“Free IT support — just let me remote in.”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2"/>
          <p:cNvSpPr/>
          <p:nvPr/>
        </p:nvSpPr>
        <p:spPr>
          <a:xfrm>
            <a:off x="502920" y="288036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42"/>
          <p:cNvSpPr/>
          <p:nvPr/>
        </p:nvSpPr>
        <p:spPr>
          <a:xfrm>
            <a:off x="704088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6" name="Google Shape;88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42"/>
          <p:cNvSpPr/>
          <p:nvPr/>
        </p:nvSpPr>
        <p:spPr>
          <a:xfrm>
            <a:off x="1280160" y="306324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Tailgating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2"/>
          <p:cNvSpPr/>
          <p:nvPr/>
        </p:nvSpPr>
        <p:spPr>
          <a:xfrm>
            <a:off x="722376" y="363016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Following someone through a secure door.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2"/>
          <p:cNvSpPr/>
          <p:nvPr/>
        </p:nvSpPr>
        <p:spPr>
          <a:xfrm>
            <a:off x="3282696" y="288036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42"/>
          <p:cNvSpPr/>
          <p:nvPr/>
        </p:nvSpPr>
        <p:spPr>
          <a:xfrm>
            <a:off x="3483864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1" name="Google Shape;891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84448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42"/>
          <p:cNvSpPr/>
          <p:nvPr/>
        </p:nvSpPr>
        <p:spPr>
          <a:xfrm>
            <a:off x="4059936" y="306324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Dumpster diving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2"/>
          <p:cNvSpPr/>
          <p:nvPr/>
        </p:nvSpPr>
        <p:spPr>
          <a:xfrm>
            <a:off x="3502152" y="363016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Discarded papers &amp; old hardware for useful info.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2"/>
          <p:cNvSpPr/>
          <p:nvPr/>
        </p:nvSpPr>
        <p:spPr>
          <a:xfrm>
            <a:off x="6062472" y="288036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42"/>
          <p:cNvSpPr/>
          <p:nvPr/>
        </p:nvSpPr>
        <p:spPr>
          <a:xfrm>
            <a:off x="6263640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6" name="Google Shape;896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64224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42"/>
          <p:cNvSpPr/>
          <p:nvPr/>
        </p:nvSpPr>
        <p:spPr>
          <a:xfrm>
            <a:off x="6839712" y="306324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Watering hole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2"/>
          <p:cNvSpPr/>
          <p:nvPr/>
        </p:nvSpPr>
        <p:spPr>
          <a:xfrm>
            <a:off x="6281928" y="363016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Compromising a site the target group visits.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2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2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3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4 · 4.5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3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It really happens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3"/>
          <p:cNvSpPr/>
          <p:nvPr/>
        </p:nvSpPr>
        <p:spPr>
          <a:xfrm>
            <a:off x="502920" y="1463040"/>
            <a:ext cx="39776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3"/>
          <p:cNvSpPr/>
          <p:nvPr/>
        </p:nvSpPr>
        <p:spPr>
          <a:xfrm>
            <a:off x="731520" y="1600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Twitter, 2020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3"/>
          <p:cNvSpPr/>
          <p:nvPr/>
        </p:nvSpPr>
        <p:spPr>
          <a:xfrm>
            <a:off x="3200400" y="1627632"/>
            <a:ext cx="1097280" cy="292608"/>
          </a:xfrm>
          <a:prstGeom prst="roundRect">
            <a:avLst>
              <a:gd fmla="val 50000" name="adj"/>
            </a:avLst>
          </a:pr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3"/>
          <p:cNvSpPr/>
          <p:nvPr/>
        </p:nvSpPr>
        <p:spPr>
          <a:xfrm>
            <a:off x="3200400" y="162763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Vishing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3"/>
          <p:cNvSpPr/>
          <p:nvPr/>
        </p:nvSpPr>
        <p:spPr>
          <a:xfrm>
            <a:off x="731520" y="196596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Phone calls tricked staff into giving tool access; top accounts hijacked for a Bitcoin scam.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3"/>
          <p:cNvSpPr/>
          <p:nvPr/>
        </p:nvSpPr>
        <p:spPr>
          <a:xfrm>
            <a:off x="4663440" y="1463040"/>
            <a:ext cx="39776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3"/>
          <p:cNvSpPr/>
          <p:nvPr/>
        </p:nvSpPr>
        <p:spPr>
          <a:xfrm>
            <a:off x="4892040" y="1600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Target, 2013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3"/>
          <p:cNvSpPr/>
          <p:nvPr/>
        </p:nvSpPr>
        <p:spPr>
          <a:xfrm>
            <a:off x="7360920" y="1627632"/>
            <a:ext cx="1097280" cy="292608"/>
          </a:xfrm>
          <a:prstGeom prst="roundRect">
            <a:avLst>
              <a:gd fmla="val 50000" name="adj"/>
            </a:avLst>
          </a:pr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43"/>
          <p:cNvSpPr/>
          <p:nvPr/>
        </p:nvSpPr>
        <p:spPr>
          <a:xfrm>
            <a:off x="7360920" y="162763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Vendor phish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3"/>
          <p:cNvSpPr/>
          <p:nvPr/>
        </p:nvSpPr>
        <p:spPr>
          <a:xfrm>
            <a:off x="4892040" y="196596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Phished an HVAC supplier, pivoted in, stole ~40M card records. Suppliers are your surface.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3"/>
          <p:cNvSpPr/>
          <p:nvPr/>
        </p:nvSpPr>
        <p:spPr>
          <a:xfrm>
            <a:off x="502920" y="2971800"/>
            <a:ext cx="39776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43"/>
          <p:cNvSpPr/>
          <p:nvPr/>
        </p:nvSpPr>
        <p:spPr>
          <a:xfrm>
            <a:off x="731520" y="31089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Google &amp; Facebook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3"/>
          <p:cNvSpPr/>
          <p:nvPr/>
        </p:nvSpPr>
        <p:spPr>
          <a:xfrm>
            <a:off x="3200400" y="3136392"/>
            <a:ext cx="1097280" cy="292608"/>
          </a:xfrm>
          <a:prstGeom prst="roundRect">
            <a:avLst>
              <a:gd fmla="val 50000" name="adj"/>
            </a:avLst>
          </a:pr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43"/>
          <p:cNvSpPr/>
          <p:nvPr/>
        </p:nvSpPr>
        <p:spPr>
          <a:xfrm>
            <a:off x="3200400" y="31363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BEC, $100M+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3"/>
          <p:cNvSpPr/>
          <p:nvPr/>
        </p:nvSpPr>
        <p:spPr>
          <a:xfrm>
            <a:off x="731520" y="347472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One man faked supplier invoices and tricked both into wiring over US$100 million.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3"/>
          <p:cNvSpPr/>
          <p:nvPr/>
        </p:nvSpPr>
        <p:spPr>
          <a:xfrm>
            <a:off x="4663440" y="2971800"/>
            <a:ext cx="39776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43"/>
          <p:cNvSpPr/>
          <p:nvPr/>
        </p:nvSpPr>
        <p:spPr>
          <a:xfrm>
            <a:off x="4892040" y="31089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RSA, 2011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43"/>
          <p:cNvSpPr/>
          <p:nvPr/>
        </p:nvSpPr>
        <p:spPr>
          <a:xfrm>
            <a:off x="7360920" y="3136392"/>
            <a:ext cx="1097280" cy="292608"/>
          </a:xfrm>
          <a:prstGeom prst="roundRect">
            <a:avLst>
              <a:gd fmla="val 50000" name="adj"/>
            </a:avLst>
          </a:pr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3"/>
          <p:cNvSpPr/>
          <p:nvPr/>
        </p:nvSpPr>
        <p:spPr>
          <a:xfrm>
            <a:off x="7360920" y="31363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Spear phish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3"/>
          <p:cNvSpPr/>
          <p:nvPr/>
        </p:nvSpPr>
        <p:spPr>
          <a:xfrm>
            <a:off x="4892040" y="347472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 Excel titled “2011 Recruitment Plan” compromised the security giant itself.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3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common thread: not one needed a fancy zero-day — just a person trusting the wrong message.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3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3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4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MODULE 4 · 4.6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4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Defending the human layer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4"/>
          <p:cNvSpPr/>
          <p:nvPr/>
        </p:nvSpPr>
        <p:spPr>
          <a:xfrm>
            <a:off x="502920" y="1417320"/>
            <a:ext cx="397764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44"/>
          <p:cNvSpPr/>
          <p:nvPr/>
        </p:nvSpPr>
        <p:spPr>
          <a:xfrm>
            <a:off x="704088" y="161848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0" name="Google Shape;94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719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44"/>
          <p:cNvSpPr/>
          <p:nvPr/>
        </p:nvSpPr>
        <p:spPr>
          <a:xfrm>
            <a:off x="1280160" y="1600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Awareness &amp; simulations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4"/>
          <p:cNvSpPr/>
          <p:nvPr/>
        </p:nvSpPr>
        <p:spPr>
          <a:xfrm>
            <a:off x="722376" y="2167128"/>
            <a:ext cx="35387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Regular, blameless practice — build a reporting culture, not a shaming 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4"/>
          <p:cNvSpPr/>
          <p:nvPr/>
        </p:nvSpPr>
        <p:spPr>
          <a:xfrm>
            <a:off x="4663440" y="1417320"/>
            <a:ext cx="397764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4"/>
          <p:cNvSpPr/>
          <p:nvPr/>
        </p:nvSpPr>
        <p:spPr>
          <a:xfrm>
            <a:off x="4864608" y="161848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5" name="Google Shape;94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5192" y="1719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44"/>
          <p:cNvSpPr/>
          <p:nvPr/>
        </p:nvSpPr>
        <p:spPr>
          <a:xfrm>
            <a:off x="5440680" y="1600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Multi-factor auth (MFA)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4"/>
          <p:cNvSpPr/>
          <p:nvPr/>
        </p:nvSpPr>
        <p:spPr>
          <a:xfrm>
            <a:off x="4882896" y="2167128"/>
            <a:ext cx="35387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Even a phished password can be stopped. The highest-value control here.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4"/>
          <p:cNvSpPr/>
          <p:nvPr/>
        </p:nvSpPr>
        <p:spPr>
          <a:xfrm>
            <a:off x="502920" y="2560320"/>
            <a:ext cx="397764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44"/>
          <p:cNvSpPr/>
          <p:nvPr/>
        </p:nvSpPr>
        <p:spPr>
          <a:xfrm>
            <a:off x="704088" y="276148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0" name="Google Shape;95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672" y="2862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44"/>
          <p:cNvSpPr/>
          <p:nvPr/>
        </p:nvSpPr>
        <p:spPr>
          <a:xfrm>
            <a:off x="128016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Email security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4"/>
          <p:cNvSpPr/>
          <p:nvPr/>
        </p:nvSpPr>
        <p:spPr>
          <a:xfrm>
            <a:off x="722376" y="3310128"/>
            <a:ext cx="35387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Filtering + SPF, DKIM &amp; DMARC to make spoofing your domain harder.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4"/>
          <p:cNvSpPr/>
          <p:nvPr/>
        </p:nvSpPr>
        <p:spPr>
          <a:xfrm>
            <a:off x="4663440" y="2560320"/>
            <a:ext cx="397764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4"/>
          <p:cNvSpPr/>
          <p:nvPr/>
        </p:nvSpPr>
        <p:spPr>
          <a:xfrm>
            <a:off x="4864608" y="276148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5" name="Google Shape;955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5192" y="2862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44"/>
          <p:cNvSpPr/>
          <p:nvPr/>
        </p:nvSpPr>
        <p:spPr>
          <a:xfrm>
            <a:off x="544068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Verification procedures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4"/>
          <p:cNvSpPr/>
          <p:nvPr/>
        </p:nvSpPr>
        <p:spPr>
          <a:xfrm>
            <a:off x="4882896" y="3310128"/>
            <a:ext cx="35387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 money &amp; credentials, confirm via a second, known channel.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44"/>
          <p:cNvSpPr/>
          <p:nvPr/>
        </p:nvSpPr>
        <p:spPr>
          <a:xfrm>
            <a:off x="502920" y="3703320"/>
            <a:ext cx="397764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44"/>
          <p:cNvSpPr/>
          <p:nvPr/>
        </p:nvSpPr>
        <p:spPr>
          <a:xfrm>
            <a:off x="704088" y="390448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0" name="Google Shape;960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672" y="4005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44"/>
          <p:cNvSpPr/>
          <p:nvPr/>
        </p:nvSpPr>
        <p:spPr>
          <a:xfrm>
            <a:off x="1280160" y="3886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Least privilege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44"/>
          <p:cNvSpPr/>
          <p:nvPr/>
        </p:nvSpPr>
        <p:spPr>
          <a:xfrm>
            <a:off x="722376" y="4453128"/>
            <a:ext cx="35387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Limit the blast radius if someone is compromised.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4"/>
          <p:cNvSpPr/>
          <p:nvPr/>
        </p:nvSpPr>
        <p:spPr>
          <a:xfrm>
            <a:off x="4663440" y="3703320"/>
            <a:ext cx="397764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4"/>
          <p:cNvSpPr/>
          <p:nvPr/>
        </p:nvSpPr>
        <p:spPr>
          <a:xfrm>
            <a:off x="4864608" y="390448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5" name="Google Shape;965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5192" y="4005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44"/>
          <p:cNvSpPr/>
          <p:nvPr/>
        </p:nvSpPr>
        <p:spPr>
          <a:xfrm>
            <a:off x="5440680" y="3886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Easy reporting button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4"/>
          <p:cNvSpPr/>
          <p:nvPr/>
        </p:nvSpPr>
        <p:spPr>
          <a:xfrm>
            <a:off x="4882896" y="4453128"/>
            <a:ext cx="35387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Make reporting effortless — and thank the people who 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4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4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5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45"/>
          <p:cNvSpPr/>
          <p:nvPr/>
        </p:nvSpPr>
        <p:spPr>
          <a:xfrm>
            <a:off x="502920" y="7132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Five things to walk out with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5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13243B"/>
          </a:solidFill>
          <a:ln cap="flat" cmpd="sng" w="1587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5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5"/>
          <p:cNvSpPr/>
          <p:nvPr/>
        </p:nvSpPr>
        <p:spPr>
          <a:xfrm>
            <a:off x="1097280" y="1490472"/>
            <a:ext cx="7543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 vulnerability is a weakness; CVE names it, CVSS scores it 0–10, attack surface is every way in, OWASP Top 10 maps the common web risks.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5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13243B"/>
          </a:solidFill>
          <a:ln cap="flat" cmpd="sng" w="1587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5"/>
          <p:cNvSpPr/>
          <p:nvPr/>
        </p:nvSpPr>
        <p:spPr>
          <a:xfrm>
            <a:off x="548640" y="2212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5"/>
          <p:cNvSpPr/>
          <p:nvPr/>
        </p:nvSpPr>
        <p:spPr>
          <a:xfrm>
            <a:off x="1097280" y="2148840"/>
            <a:ext cx="7543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Enumeration actively asks services what they run — banner grabbing, DNS, SMTP, SNMP — to match versions against known flaws.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45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13243B"/>
          </a:solidFill>
          <a:ln cap="flat" cmpd="sng" w="1587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45"/>
          <p:cNvSpPr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5"/>
          <p:cNvSpPr/>
          <p:nvPr/>
        </p:nvSpPr>
        <p:spPr>
          <a:xfrm>
            <a:off x="1097280" y="2807208"/>
            <a:ext cx="7543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OSINT learns an enormous amount passively, with no alarms; active recon is richer but detectable.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5"/>
          <p:cNvSpPr/>
          <p:nvPr/>
        </p:nvSpPr>
        <p:spPr>
          <a:xfrm>
            <a:off x="548640" y="3529584"/>
            <a:ext cx="384048" cy="384048"/>
          </a:xfrm>
          <a:prstGeom prst="ellipse">
            <a:avLst/>
          </a:prstGeom>
          <a:solidFill>
            <a:srgbClr val="13243B"/>
          </a:solidFill>
          <a:ln cap="flat" cmpd="sng" w="1587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45"/>
          <p:cNvSpPr/>
          <p:nvPr/>
        </p:nvSpPr>
        <p:spPr>
          <a:xfrm>
            <a:off x="548640" y="35295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5"/>
          <p:cNvSpPr/>
          <p:nvPr/>
        </p:nvSpPr>
        <p:spPr>
          <a:xfrm>
            <a:off x="1097280" y="3465576"/>
            <a:ext cx="7543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Social engineering hacks people via normal human instincts; phishing is its most common form — and most breaches start here.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45"/>
          <p:cNvSpPr/>
          <p:nvPr/>
        </p:nvSpPr>
        <p:spPr>
          <a:xfrm>
            <a:off x="548640" y="4187952"/>
            <a:ext cx="384048" cy="384048"/>
          </a:xfrm>
          <a:prstGeom prst="ellipse">
            <a:avLst/>
          </a:prstGeom>
          <a:solidFill>
            <a:srgbClr val="13243B"/>
          </a:solidFill>
          <a:ln cap="flat" cmpd="sng" w="1587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5"/>
          <p:cNvSpPr/>
          <p:nvPr/>
        </p:nvSpPr>
        <p:spPr>
          <a:xfrm>
            <a:off x="548640" y="41879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5"/>
          <p:cNvSpPr/>
          <p:nvPr/>
        </p:nvSpPr>
        <p:spPr>
          <a:xfrm>
            <a:off x="1097280" y="4123944"/>
            <a:ext cx="7543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Authorisation is everything. Know the law, get it in writing, practise only on legal targets.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6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KEEP GOING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6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Where to learn &amp; practise — legally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6"/>
          <p:cNvSpPr/>
          <p:nvPr/>
        </p:nvSpPr>
        <p:spPr>
          <a:xfrm>
            <a:off x="502920" y="146304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6"/>
          <p:cNvSpPr/>
          <p:nvPr/>
        </p:nvSpPr>
        <p:spPr>
          <a:xfrm>
            <a:off x="704088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1" name="Google Shape;100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46"/>
          <p:cNvSpPr/>
          <p:nvPr/>
        </p:nvSpPr>
        <p:spPr>
          <a:xfrm>
            <a:off x="1280160" y="164592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TryHackMe · Hack The Box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6"/>
          <p:cNvSpPr/>
          <p:nvPr/>
        </p:nvSpPr>
        <p:spPr>
          <a:xfrm>
            <a:off x="722376" y="221284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Guided, legal hacking labs.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6"/>
          <p:cNvSpPr/>
          <p:nvPr/>
        </p:nvSpPr>
        <p:spPr>
          <a:xfrm>
            <a:off x="3282696" y="146304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46"/>
          <p:cNvSpPr/>
          <p:nvPr/>
        </p:nvSpPr>
        <p:spPr>
          <a:xfrm>
            <a:off x="3483864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6" name="Google Shape;100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4448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46"/>
          <p:cNvSpPr/>
          <p:nvPr/>
        </p:nvSpPr>
        <p:spPr>
          <a:xfrm>
            <a:off x="4059936" y="164592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PortSwigger Academy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6"/>
          <p:cNvSpPr/>
          <p:nvPr/>
        </p:nvSpPr>
        <p:spPr>
          <a:xfrm>
            <a:off x="3502152" y="221284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Free, brilliant for the OWASP Top 10.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46"/>
          <p:cNvSpPr/>
          <p:nvPr/>
        </p:nvSpPr>
        <p:spPr>
          <a:xfrm>
            <a:off x="6062472" y="146304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46"/>
          <p:cNvSpPr/>
          <p:nvPr/>
        </p:nvSpPr>
        <p:spPr>
          <a:xfrm>
            <a:off x="6263640" y="166420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1" name="Google Shape;101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4224" y="17647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46"/>
          <p:cNvSpPr/>
          <p:nvPr/>
        </p:nvSpPr>
        <p:spPr>
          <a:xfrm>
            <a:off x="6839712" y="164592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owasp.org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6"/>
          <p:cNvSpPr/>
          <p:nvPr/>
        </p:nvSpPr>
        <p:spPr>
          <a:xfrm>
            <a:off x="6281928" y="221284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Top 10, testing guides, free tools.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6"/>
          <p:cNvSpPr/>
          <p:nvPr/>
        </p:nvSpPr>
        <p:spPr>
          <a:xfrm>
            <a:off x="502920" y="288036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6"/>
          <p:cNvSpPr/>
          <p:nvPr/>
        </p:nvSpPr>
        <p:spPr>
          <a:xfrm>
            <a:off x="704088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6" name="Google Shape;1016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46"/>
          <p:cNvSpPr/>
          <p:nvPr/>
        </p:nvSpPr>
        <p:spPr>
          <a:xfrm>
            <a:off x="1280160" y="306324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nvd.nist.gov · FIRST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6"/>
          <p:cNvSpPr/>
          <p:nvPr/>
        </p:nvSpPr>
        <p:spPr>
          <a:xfrm>
            <a:off x="722376" y="363016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CVE lookups &amp; the CVSS calculator.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6"/>
          <p:cNvSpPr/>
          <p:nvPr/>
        </p:nvSpPr>
        <p:spPr>
          <a:xfrm>
            <a:off x="3282696" y="288036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6"/>
          <p:cNvSpPr/>
          <p:nvPr/>
        </p:nvSpPr>
        <p:spPr>
          <a:xfrm>
            <a:off x="3483864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1" name="Google Shape;1021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84448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46"/>
          <p:cNvSpPr/>
          <p:nvPr/>
        </p:nvSpPr>
        <p:spPr>
          <a:xfrm>
            <a:off x="4059936" y="306324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OverTheWire · VulnHub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6"/>
          <p:cNvSpPr/>
          <p:nvPr/>
        </p:nvSpPr>
        <p:spPr>
          <a:xfrm>
            <a:off x="3502152" y="363016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Vulnerable practice machines.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46"/>
          <p:cNvSpPr/>
          <p:nvPr/>
        </p:nvSpPr>
        <p:spPr>
          <a:xfrm>
            <a:off x="6062472" y="2880360"/>
            <a:ext cx="267004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A16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46"/>
          <p:cNvSpPr/>
          <p:nvPr/>
        </p:nvSpPr>
        <p:spPr>
          <a:xfrm>
            <a:off x="6263640" y="3081528"/>
            <a:ext cx="457200" cy="457200"/>
          </a:xfrm>
          <a:prstGeom prst="ellipse">
            <a:avLst/>
          </a:prstGeom>
          <a:solidFill>
            <a:srgbClr val="EA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6" name="Google Shape;1026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64224" y="3182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46"/>
          <p:cNvSpPr/>
          <p:nvPr/>
        </p:nvSpPr>
        <p:spPr>
          <a:xfrm>
            <a:off x="6839712" y="3063240"/>
            <a:ext cx="175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Build a home lab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6"/>
          <p:cNvSpPr/>
          <p:nvPr/>
        </p:nvSpPr>
        <p:spPr>
          <a:xfrm>
            <a:off x="6281928" y="3630168"/>
            <a:ext cx="22311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VirtualBox/VMware — a target you legally own.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6"/>
          <p:cNvSpPr/>
          <p:nvPr/>
        </p:nvSpPr>
        <p:spPr>
          <a:xfrm>
            <a:off x="457200" y="483260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Vulnerability &amp; Recon  ·  C-DAC Kolkata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6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7"/>
          <p:cNvSpPr/>
          <p:nvPr/>
        </p:nvSpPr>
        <p:spPr>
          <a:xfrm>
            <a:off x="3977640" y="1051560"/>
            <a:ext cx="1188720" cy="1188720"/>
          </a:xfrm>
          <a:prstGeom prst="ellipse">
            <a:avLst/>
          </a:prstGeom>
          <a:solidFill>
            <a:srgbClr val="13243B"/>
          </a:solidFill>
          <a:ln cap="flat" cmpd="sng" w="254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7" name="Google Shape;103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0" y="13258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47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7"/>
          <p:cNvSpPr/>
          <p:nvPr/>
        </p:nvSpPr>
        <p:spPr>
          <a:xfrm>
            <a:off x="1097280" y="32918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security mindset: look at any system and ask “where could this be poked — and how would I protect it?”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7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Questions? — anything from any module is fair game.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